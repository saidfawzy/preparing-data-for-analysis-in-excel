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9" r:id="rId2"/>
    <p:sldId id="263" r:id="rId3"/>
    <p:sldId id="504" r:id="rId4"/>
    <p:sldId id="505" r:id="rId5"/>
    <p:sldId id="506" r:id="rId6"/>
    <p:sldId id="507" r:id="rId7"/>
    <p:sldId id="508" r:id="rId8"/>
    <p:sldId id="509" r:id="rId9"/>
    <p:sldId id="510" r:id="rId10"/>
    <p:sldId id="511" r:id="rId11"/>
    <p:sldId id="512" r:id="rId12"/>
    <p:sldId id="513" r:id="rId13"/>
    <p:sldId id="514" r:id="rId14"/>
    <p:sldId id="515" r:id="rId15"/>
    <p:sldId id="516" r:id="rId16"/>
    <p:sldId id="521" r:id="rId17"/>
    <p:sldId id="517" r:id="rId18"/>
    <p:sldId id="518" r:id="rId19"/>
    <p:sldId id="519" r:id="rId20"/>
    <p:sldId id="520" r:id="rId21"/>
    <p:sldId id="522" r:id="rId22"/>
    <p:sldId id="523" r:id="rId23"/>
    <p:sldId id="25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0701"/>
    <a:srgbClr val="F7FBF9"/>
    <a:srgbClr val="B62E24"/>
    <a:srgbClr val="D5372A"/>
    <a:srgbClr val="DB3431"/>
    <a:srgbClr val="DEDAD9"/>
    <a:srgbClr val="D63025"/>
    <a:srgbClr val="F8CE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2" d="100"/>
          <a:sy n="102" d="100"/>
        </p:scale>
        <p:origin x="138"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D3F25E-AEB8-45C7-B9CC-7158A331DEA0}" type="datetimeFigureOut">
              <a:rPr lang="en-US" smtClean="0"/>
              <a:t>11/2/2023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718C6F-3310-4DBB-96A5-51E928F686C1}" type="slidenum">
              <a:rPr lang="en-US" smtClean="0"/>
              <a:t>‹#›</a:t>
            </a:fld>
            <a:endParaRPr lang="en-US"/>
          </a:p>
        </p:txBody>
      </p:sp>
    </p:spTree>
    <p:extLst>
      <p:ext uri="{BB962C8B-B14F-4D97-AF65-F5344CB8AC3E}">
        <p14:creationId xmlns:p14="http://schemas.microsoft.com/office/powerpoint/2010/main" val="3426373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958A7-C842-1306-85A9-D5869D2CB9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22B739-A0DB-E465-2DD1-FC2F63B4EC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3F2E29-6675-11F3-C587-415AFD73C7A0}"/>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5" name="Footer Placeholder 4">
            <a:extLst>
              <a:ext uri="{FF2B5EF4-FFF2-40B4-BE49-F238E27FC236}">
                <a16:creationId xmlns:a16="http://schemas.microsoft.com/office/drawing/2014/main" id="{9DFACCD3-EA0F-88A1-555B-2F0923ACA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007F3-352C-26B3-AD9C-C259979544C0}"/>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533861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E9E25-7B0F-2E27-972A-9374391FDE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DCCA61-FDE1-B86C-D6C0-A0456B480B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36CA65-7308-7A92-3FF9-DDFF59D6DB94}"/>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5" name="Footer Placeholder 4">
            <a:extLst>
              <a:ext uri="{FF2B5EF4-FFF2-40B4-BE49-F238E27FC236}">
                <a16:creationId xmlns:a16="http://schemas.microsoft.com/office/drawing/2014/main" id="{94281FC9-3AF9-CA12-49A8-CFA6E5C9D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1F95D-66D7-2C1B-BBB9-1DED127A774F}"/>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1524866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F506-103F-59F0-CDD9-21708A4A5A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BF001D-2655-BE0C-E5C9-3973A882A3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2C312-9871-73D3-9A4D-5534C80C9CA6}"/>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5" name="Footer Placeholder 4">
            <a:extLst>
              <a:ext uri="{FF2B5EF4-FFF2-40B4-BE49-F238E27FC236}">
                <a16:creationId xmlns:a16="http://schemas.microsoft.com/office/drawing/2014/main" id="{F74969B6-DE58-DA29-543F-18DBA9340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5D59F-0828-6725-C785-3D5FF4633B2A}"/>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3222226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A98AC-F134-177F-7BC9-A910FA4D9F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83A78B-97AD-F464-FFA2-43043EBD3F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EAC0EC-80AC-6E84-16D5-C507DDD96B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FA64FE-FC87-801A-C851-B7494F72E61A}"/>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6" name="Footer Placeholder 5">
            <a:extLst>
              <a:ext uri="{FF2B5EF4-FFF2-40B4-BE49-F238E27FC236}">
                <a16:creationId xmlns:a16="http://schemas.microsoft.com/office/drawing/2014/main" id="{641DA7AB-4963-0D09-B25C-CE168A897C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0F405-FCBD-27FD-E780-A5048A0B50FC}"/>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1174609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2501-0AEB-508A-9C5F-3F9FABB6E8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207663-2E9D-C656-68BE-8258253326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E273C-A8E5-4904-E2D2-247B6BDCC0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EF18BE-00B8-17BD-F80C-0DDD4ECA40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7AEE12-2E2D-5EAF-0129-C468676307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897EDD-65BE-7504-B6B1-6B9ACE957342}"/>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8" name="Footer Placeholder 7">
            <a:extLst>
              <a:ext uri="{FF2B5EF4-FFF2-40B4-BE49-F238E27FC236}">
                <a16:creationId xmlns:a16="http://schemas.microsoft.com/office/drawing/2014/main" id="{6E07187A-AD97-2A9E-BCEB-63E04EC23A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B81EC2-7FC4-9857-2136-C853C98FBB58}"/>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2489902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CF7F4-0D6B-2633-5F89-DD2FE64DA0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A7C744D-B9A8-5435-C58A-B6A18FB1B301}"/>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4" name="Footer Placeholder 3">
            <a:extLst>
              <a:ext uri="{FF2B5EF4-FFF2-40B4-BE49-F238E27FC236}">
                <a16:creationId xmlns:a16="http://schemas.microsoft.com/office/drawing/2014/main" id="{C0906396-D959-94C3-719C-86CEBF8003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89F0D3-245F-D099-E381-A1AA0BCA4CA4}"/>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9625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710C35-01ED-5FC8-D93C-526A6A2940B1}"/>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3" name="Footer Placeholder 2">
            <a:extLst>
              <a:ext uri="{FF2B5EF4-FFF2-40B4-BE49-F238E27FC236}">
                <a16:creationId xmlns:a16="http://schemas.microsoft.com/office/drawing/2014/main" id="{6355287F-181B-3DEB-364C-3D18312294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6DB13C-EAD2-119E-1773-0D186FBC7CDE}"/>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167780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74B01-A7A7-7B8C-7C09-A1D0763BC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67894D-BD14-70D7-1AB7-DE58ABE3AC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5AD15A-1936-916D-B5EF-39CF30481F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ADAD62-B7B3-9F7E-EABD-C741DD7B1C16}"/>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6" name="Footer Placeholder 5">
            <a:extLst>
              <a:ext uri="{FF2B5EF4-FFF2-40B4-BE49-F238E27FC236}">
                <a16:creationId xmlns:a16="http://schemas.microsoft.com/office/drawing/2014/main" id="{718DF03A-7A9B-E2E1-EFD8-605FEC713D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FCB9A7-35F5-86F4-8830-D014FF0A04D7}"/>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4005086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81D47-2CA0-76D0-DD0A-8D8A171CD4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0065D6-2C3C-6AD7-97A9-25CE4ABC34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2F3ED7-F437-5B72-02E1-9067F58EA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780A9-CD14-BF71-4F5F-56C4BEDC2331}"/>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6" name="Footer Placeholder 5">
            <a:extLst>
              <a:ext uri="{FF2B5EF4-FFF2-40B4-BE49-F238E27FC236}">
                <a16:creationId xmlns:a16="http://schemas.microsoft.com/office/drawing/2014/main" id="{EC0EA1D2-D8E9-67BD-AE53-9900E0762C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FDE7DE-58A9-7DA7-46CC-EBC1C1C43290}"/>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1102606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D1F14-6648-DAA7-4002-266662C14B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4796A8-7321-F8D3-DFC0-968290E354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8FC285-911B-C6C7-7C45-FA81BE2C916A}"/>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5" name="Footer Placeholder 4">
            <a:extLst>
              <a:ext uri="{FF2B5EF4-FFF2-40B4-BE49-F238E27FC236}">
                <a16:creationId xmlns:a16="http://schemas.microsoft.com/office/drawing/2014/main" id="{DF5DA7CD-BB57-D71C-48A7-0E33159FA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47D385-DDD9-4E67-584E-75D39FF8C591}"/>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3224938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BF8148-8509-EBFE-94CD-F7ED78939C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97077F-41CC-4782-6A35-4F6E000EF8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031E7C-C273-CF1C-938A-85130FFFF497}"/>
              </a:ext>
            </a:extLst>
          </p:cNvPr>
          <p:cNvSpPr>
            <a:spLocks noGrp="1"/>
          </p:cNvSpPr>
          <p:nvPr>
            <p:ph type="dt" sz="half" idx="10"/>
          </p:nvPr>
        </p:nvSpPr>
        <p:spPr/>
        <p:txBody>
          <a:bodyPr/>
          <a:lstStyle/>
          <a:p>
            <a:fld id="{41B9EC95-7019-459D-A010-A8B68B1545FD}" type="datetimeFigureOut">
              <a:rPr lang="en-US" smtClean="0"/>
              <a:t>11/2/2023</a:t>
            </a:fld>
            <a:endParaRPr lang="en-US"/>
          </a:p>
        </p:txBody>
      </p:sp>
      <p:sp>
        <p:nvSpPr>
          <p:cNvPr id="5" name="Footer Placeholder 4">
            <a:extLst>
              <a:ext uri="{FF2B5EF4-FFF2-40B4-BE49-F238E27FC236}">
                <a16:creationId xmlns:a16="http://schemas.microsoft.com/office/drawing/2014/main" id="{7C9B659D-4F98-527C-7288-07B3271B31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558127-1D49-DC05-A50E-C8FCF0B68D87}"/>
              </a:ext>
            </a:extLst>
          </p:cNvPr>
          <p:cNvSpPr>
            <a:spLocks noGrp="1"/>
          </p:cNvSpPr>
          <p:nvPr>
            <p:ph type="sldNum" sz="quarter" idx="12"/>
          </p:nvPr>
        </p:nvSpPr>
        <p:spPr/>
        <p:txBody>
          <a:bodyPr/>
          <a:lstStyle/>
          <a:p>
            <a:fld id="{1EDDDA2E-F081-49F6-8D28-15B31F09708D}" type="slidenum">
              <a:rPr lang="en-US" smtClean="0"/>
              <a:t>‹#›</a:t>
            </a:fld>
            <a:endParaRPr lang="en-US"/>
          </a:p>
        </p:txBody>
      </p:sp>
    </p:spTree>
    <p:extLst>
      <p:ext uri="{BB962C8B-B14F-4D97-AF65-F5344CB8AC3E}">
        <p14:creationId xmlns:p14="http://schemas.microsoft.com/office/powerpoint/2010/main" val="1046781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B43E6B-BE7C-F7B5-8F96-E098E8F8A2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17BC90-F11E-7B2A-E678-5FC15B91C8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A7AFC-7092-1DF9-83F5-76910805B2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B9EC95-7019-459D-A010-A8B68B1545FD}" type="datetimeFigureOut">
              <a:rPr lang="en-US" smtClean="0"/>
              <a:t>11/2/2023</a:t>
            </a:fld>
            <a:endParaRPr lang="en-US"/>
          </a:p>
        </p:txBody>
      </p:sp>
      <p:sp>
        <p:nvSpPr>
          <p:cNvPr id="5" name="Footer Placeholder 4">
            <a:extLst>
              <a:ext uri="{FF2B5EF4-FFF2-40B4-BE49-F238E27FC236}">
                <a16:creationId xmlns:a16="http://schemas.microsoft.com/office/drawing/2014/main" id="{787F60B2-53C0-725C-1263-280DCC3EB3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5D43FB-7697-1ADD-EDD4-DA4582F60A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DDDA2E-F081-49F6-8D28-15B31F09708D}" type="slidenum">
              <a:rPr lang="en-US" smtClean="0"/>
              <a:t>‹#›</a:t>
            </a:fld>
            <a:endParaRPr lang="en-US"/>
          </a:p>
        </p:txBody>
      </p:sp>
    </p:spTree>
    <p:extLst>
      <p:ext uri="{BB962C8B-B14F-4D97-AF65-F5344CB8AC3E}">
        <p14:creationId xmlns:p14="http://schemas.microsoft.com/office/powerpoint/2010/main" val="1323117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ABB2C33-E227-EBE0-B24C-4CC6A38B7490}"/>
              </a:ext>
            </a:extLst>
          </p:cNvPr>
          <p:cNvGrpSpPr/>
          <p:nvPr/>
        </p:nvGrpSpPr>
        <p:grpSpPr>
          <a:xfrm>
            <a:off x="301077" y="4573374"/>
            <a:ext cx="11372492" cy="2133600"/>
            <a:chOff x="247288" y="4528551"/>
            <a:chExt cx="11372492" cy="2133600"/>
          </a:xfrm>
        </p:grpSpPr>
        <p:sp>
          <p:nvSpPr>
            <p:cNvPr id="7" name="Rectangle: Rounded Corners 6">
              <a:extLst>
                <a:ext uri="{FF2B5EF4-FFF2-40B4-BE49-F238E27FC236}">
                  <a16:creationId xmlns:a16="http://schemas.microsoft.com/office/drawing/2014/main" id="{B4F3A574-E4E3-AC65-97AE-AD628225D042}"/>
                </a:ext>
              </a:extLst>
            </p:cNvPr>
            <p:cNvSpPr/>
            <p:nvPr/>
          </p:nvSpPr>
          <p:spPr>
            <a:xfrm>
              <a:off x="552087" y="4528551"/>
              <a:ext cx="11067693" cy="2133600"/>
            </a:xfrm>
            <a:prstGeom prst="roundRect">
              <a:avLst/>
            </a:prstGeom>
            <a:gradFill flip="none" rotWithShape="1">
              <a:gsLst>
                <a:gs pos="0">
                  <a:schemeClr val="bg1"/>
                </a:gs>
                <a:gs pos="35000">
                  <a:schemeClr val="accent1">
                    <a:lumMod val="0"/>
                    <a:lumOff val="100000"/>
                  </a:schemeClr>
                </a:gs>
                <a:gs pos="100000">
                  <a:srgbClr val="0D3039"/>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Graphical user interface, text&#10;&#10;Description automatically generated with medium confidence">
              <a:extLst>
                <a:ext uri="{FF2B5EF4-FFF2-40B4-BE49-F238E27FC236}">
                  <a16:creationId xmlns:a16="http://schemas.microsoft.com/office/drawing/2014/main" id="{3531FB66-61BD-6148-751E-19AA402935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3763" y="5494997"/>
              <a:ext cx="2084032" cy="715548"/>
            </a:xfrm>
            <a:prstGeom prst="rect">
              <a:avLst/>
            </a:prstGeom>
          </p:spPr>
        </p:pic>
        <p:pic>
          <p:nvPicPr>
            <p:cNvPr id="9" name="Picture 8">
              <a:extLst>
                <a:ext uri="{FF2B5EF4-FFF2-40B4-BE49-F238E27FC236}">
                  <a16:creationId xmlns:a16="http://schemas.microsoft.com/office/drawing/2014/main" id="{292FD24E-8667-F824-39A9-3F246A57BEAD}"/>
                </a:ext>
              </a:extLst>
            </p:cNvPr>
            <p:cNvPicPr>
              <a:picLocks noChangeAspect="1"/>
            </p:cNvPicPr>
            <p:nvPr/>
          </p:nvPicPr>
          <p:blipFill>
            <a:blip r:embed="rId3"/>
            <a:stretch>
              <a:fillRect/>
            </a:stretch>
          </p:blipFill>
          <p:spPr>
            <a:xfrm>
              <a:off x="9580513" y="5363627"/>
              <a:ext cx="1484300" cy="978289"/>
            </a:xfrm>
            <a:prstGeom prst="rect">
              <a:avLst/>
            </a:prstGeom>
          </p:spPr>
        </p:pic>
        <p:pic>
          <p:nvPicPr>
            <p:cNvPr id="10" name="Picture 9" descr="Logo, icon&#10;&#10;Description automatically generated">
              <a:extLst>
                <a:ext uri="{FF2B5EF4-FFF2-40B4-BE49-F238E27FC236}">
                  <a16:creationId xmlns:a16="http://schemas.microsoft.com/office/drawing/2014/main" id="{8A7861E1-CAF9-1E03-E5AA-F5627BE1DD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187" y="5700877"/>
              <a:ext cx="420827" cy="365694"/>
            </a:xfrm>
            <a:prstGeom prst="rect">
              <a:avLst/>
            </a:prstGeom>
          </p:spPr>
        </p:pic>
        <p:sp>
          <p:nvSpPr>
            <p:cNvPr id="11" name="Subtitle 2">
              <a:extLst>
                <a:ext uri="{FF2B5EF4-FFF2-40B4-BE49-F238E27FC236}">
                  <a16:creationId xmlns:a16="http://schemas.microsoft.com/office/drawing/2014/main" id="{E66E2FA0-F7E1-2270-2937-4DA909CB7AD5}"/>
                </a:ext>
              </a:extLst>
            </p:cNvPr>
            <p:cNvSpPr txBox="1">
              <a:spLocks/>
            </p:cNvSpPr>
            <p:nvPr/>
          </p:nvSpPr>
          <p:spPr>
            <a:xfrm>
              <a:off x="247288" y="4680951"/>
              <a:ext cx="4544490" cy="18288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b="1" dirty="0">
                  <a:solidFill>
                    <a:schemeClr val="bg1"/>
                  </a:solidFill>
                  <a:latin typeface="Arial Black" panose="020B0A04020102020204" pitchFamily="34" charset="0"/>
                </a:rPr>
                <a:t>Prepared By :</a:t>
              </a:r>
            </a:p>
            <a:p>
              <a:pPr marL="0" indent="0" algn="ctr">
                <a:buNone/>
              </a:pPr>
              <a:r>
                <a:rPr lang="en-US" b="1" dirty="0">
                  <a:solidFill>
                    <a:schemeClr val="bg1"/>
                  </a:solidFill>
                  <a:latin typeface="Arial Black" panose="020B0A04020102020204" pitchFamily="34" charset="0"/>
                </a:rPr>
                <a:t>Said Fawzy</a:t>
              </a:r>
            </a:p>
            <a:p>
              <a:pPr marL="0" indent="0" algn="ctr">
                <a:buNone/>
              </a:pPr>
              <a:r>
                <a:rPr lang="en-US" sz="1200" b="1" dirty="0">
                  <a:solidFill>
                    <a:schemeClr val="bg1"/>
                  </a:solidFill>
                  <a:latin typeface="Arial Black" panose="020B0A04020102020204" pitchFamily="34" charset="0"/>
                </a:rPr>
                <a:t>Manager of Information Center</a:t>
              </a:r>
            </a:p>
            <a:p>
              <a:pPr marL="0" indent="0" algn="ctr">
                <a:buNone/>
              </a:pPr>
              <a:r>
                <a:rPr lang="en-US" sz="1200" b="1" dirty="0">
                  <a:solidFill>
                    <a:schemeClr val="bg1"/>
                  </a:solidFill>
                  <a:latin typeface="Arial Black" panose="020B0A04020102020204" pitchFamily="34" charset="0"/>
                </a:rPr>
                <a:t>Tendering Department</a:t>
              </a:r>
            </a:p>
            <a:p>
              <a:pPr marL="0" indent="0" algn="ctr">
                <a:buNone/>
              </a:pPr>
              <a:r>
                <a:rPr lang="en-US" sz="1200" b="1" dirty="0">
                  <a:solidFill>
                    <a:schemeClr val="bg1"/>
                  </a:solidFill>
                  <a:latin typeface="Arial Black" panose="020B0A04020102020204" pitchFamily="34" charset="0"/>
                </a:rPr>
                <a:t>Arab Contractors </a:t>
              </a:r>
            </a:p>
          </p:txBody>
        </p:sp>
      </p:grpSp>
      <p:sp>
        <p:nvSpPr>
          <p:cNvPr id="12" name="Text Box 1">
            <a:extLst>
              <a:ext uri="{FF2B5EF4-FFF2-40B4-BE49-F238E27FC236}">
                <a16:creationId xmlns:a16="http://schemas.microsoft.com/office/drawing/2014/main" id="{9FF8A57A-136B-305E-D927-6C3603E07967}"/>
              </a:ext>
            </a:extLst>
          </p:cNvPr>
          <p:cNvSpPr txBox="1"/>
          <p:nvPr/>
        </p:nvSpPr>
        <p:spPr>
          <a:xfrm>
            <a:off x="43722" y="2726737"/>
            <a:ext cx="12192000" cy="916918"/>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spAutoFit/>
          </a:bodyPr>
          <a:lstStyle/>
          <a:p>
            <a:pPr algn="ctr">
              <a:lnSpc>
                <a:spcPct val="107000"/>
              </a:lnSpc>
              <a:spcAft>
                <a:spcPts val="800"/>
              </a:spcAft>
            </a:pPr>
            <a:r>
              <a:rPr lang="en-US" sz="5400" b="1" dirty="0">
                <a:solidFill>
                  <a:srgbClr val="000000"/>
                </a:solidFill>
                <a:effectLst>
                  <a:outerShdw blurRad="38100" dist="19050" dir="2700000" algn="tl">
                    <a:schemeClr val="dk1">
                      <a:alpha val="40000"/>
                    </a:schemeClr>
                  </a:outerShdw>
                </a:effectLst>
                <a:latin typeface="Arial" panose="020B0604020202020204" pitchFamily="34" charset="0"/>
                <a:ea typeface="Calibri" panose="020F0502020204030204" pitchFamily="34" charset="0"/>
                <a:cs typeface="Arial" panose="020B0604020202020204" pitchFamily="34" charset="0"/>
              </a:rPr>
              <a:t>Final Project</a:t>
            </a:r>
          </a:p>
        </p:txBody>
      </p:sp>
      <p:pic>
        <p:nvPicPr>
          <p:cNvPr id="3" name="Picture 2">
            <a:extLst>
              <a:ext uri="{FF2B5EF4-FFF2-40B4-BE49-F238E27FC236}">
                <a16:creationId xmlns:a16="http://schemas.microsoft.com/office/drawing/2014/main" id="{A9051D46-EA3E-FC8C-EDBE-EC71CDE66215}"/>
              </a:ext>
            </a:extLst>
          </p:cNvPr>
          <p:cNvPicPr>
            <a:picLocks noChangeAspect="1"/>
          </p:cNvPicPr>
          <p:nvPr/>
        </p:nvPicPr>
        <p:blipFill>
          <a:blip r:embed="rId5"/>
          <a:stretch>
            <a:fillRect/>
          </a:stretch>
        </p:blipFill>
        <p:spPr>
          <a:xfrm>
            <a:off x="301077" y="214567"/>
            <a:ext cx="2913463" cy="944647"/>
          </a:xfrm>
          <a:prstGeom prst="rect">
            <a:avLst/>
          </a:prstGeom>
        </p:spPr>
      </p:pic>
      <p:sp>
        <p:nvSpPr>
          <p:cNvPr id="2" name="Rectangle 1">
            <a:extLst>
              <a:ext uri="{FF2B5EF4-FFF2-40B4-BE49-F238E27FC236}">
                <a16:creationId xmlns:a16="http://schemas.microsoft.com/office/drawing/2014/main" id="{E00C7231-A747-5838-CA5B-799A8B9647E5}"/>
              </a:ext>
            </a:extLst>
          </p:cNvPr>
          <p:cNvSpPr/>
          <p:nvPr/>
        </p:nvSpPr>
        <p:spPr>
          <a:xfrm>
            <a:off x="5647764" y="1763926"/>
            <a:ext cx="609601" cy="812109"/>
          </a:xfrm>
          <a:prstGeom prst="rect">
            <a:avLst/>
          </a:prstGeom>
          <a:noFill/>
          <a:effectLst>
            <a:glow rad="139700">
              <a:schemeClr val="accent1">
                <a:satMod val="175000"/>
                <a:alpha val="40000"/>
              </a:schemeClr>
            </a:glow>
          </a:effectLst>
        </p:spPr>
        <p:txBody>
          <a:bodyPr wrap="none" lIns="91440" tIns="45720" rIns="91440" bIns="45720">
            <a:prstTxWarp prst="textPlain">
              <a:avLst/>
            </a:prstTxWarp>
            <a:spAutoFit/>
            <a:scene3d>
              <a:camera prst="orthographicFront"/>
              <a:lightRig rig="threePt" dir="t"/>
            </a:scene3d>
            <a:sp3d extrusionH="57150">
              <a:bevelT w="38100" h="38100" prst="angle"/>
            </a:sp3d>
          </a:bodyPr>
          <a:lstStyle/>
          <a:p>
            <a:pPr algn="ctr"/>
            <a:r>
              <a:rPr lang="en-US" sz="7200" b="1" dirty="0">
                <a:ln w="6600">
                  <a:solidFill>
                    <a:srgbClr val="120701"/>
                  </a:solidFill>
                  <a:prstDash val="solid"/>
                </a:ln>
                <a:solidFill>
                  <a:schemeClr val="bg2">
                    <a:lumMod val="50000"/>
                  </a:schemeClr>
                </a:solidFill>
                <a:effectLst>
                  <a:outerShdw dist="38100" dir="2700000" algn="tl" rotWithShape="0">
                    <a:schemeClr val="accent2"/>
                  </a:outerShdw>
                </a:effectLst>
              </a:rPr>
              <a:t>8</a:t>
            </a:r>
          </a:p>
        </p:txBody>
      </p:sp>
    </p:spTree>
    <p:extLst>
      <p:ext uri="{BB962C8B-B14F-4D97-AF65-F5344CB8AC3E}">
        <p14:creationId xmlns:p14="http://schemas.microsoft.com/office/powerpoint/2010/main" val="350346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5A80E0B0-2069-4CBE-93AD-77AEA890AE2A}"/>
              </a:ext>
            </a:extLst>
          </p:cNvPr>
          <p:cNvSpPr/>
          <p:nvPr/>
        </p:nvSpPr>
        <p:spPr>
          <a:xfrm>
            <a:off x="7251" y="-493486"/>
            <a:ext cx="3329256" cy="7984420"/>
          </a:xfrm>
          <a:custGeom>
            <a:avLst/>
            <a:gdLst>
              <a:gd name="connsiteX0" fmla="*/ 0 w 3329256"/>
              <a:gd name="connsiteY0" fmla="*/ 0 h 7984420"/>
              <a:gd name="connsiteX1" fmla="*/ 1 w 3329256"/>
              <a:gd name="connsiteY1" fmla="*/ 0 h 7984420"/>
              <a:gd name="connsiteX2" fmla="*/ 1898776 w 3329256"/>
              <a:gd name="connsiteY2" fmla="*/ 1713483 h 7984420"/>
              <a:gd name="connsiteX3" fmla="*/ 1908630 w 3329256"/>
              <a:gd name="connsiteY3" fmla="*/ 1908628 h 7984420"/>
              <a:gd name="connsiteX4" fmla="*/ 1908630 w 3329256"/>
              <a:gd name="connsiteY4" fmla="*/ 6075792 h 7984420"/>
              <a:gd name="connsiteX5" fmla="*/ 1908626 w 3329256"/>
              <a:gd name="connsiteY5" fmla="*/ 6075792 h 7984420"/>
              <a:gd name="connsiteX6" fmla="*/ 1915960 w 3329256"/>
              <a:gd name="connsiteY6" fmla="*/ 6221042 h 7984420"/>
              <a:gd name="connsiteX7" fmla="*/ 3329256 w 3329256"/>
              <a:gd name="connsiteY7" fmla="*/ 7496421 h 7984420"/>
              <a:gd name="connsiteX8" fmla="*/ 3329256 w 3329256"/>
              <a:gd name="connsiteY8" fmla="*/ 7984420 h 7984420"/>
              <a:gd name="connsiteX9" fmla="*/ 3329255 w 3329256"/>
              <a:gd name="connsiteY9" fmla="*/ 7984420 h 7984420"/>
              <a:gd name="connsiteX10" fmla="*/ 1430480 w 3329256"/>
              <a:gd name="connsiteY10" fmla="*/ 6270937 h 7984420"/>
              <a:gd name="connsiteX11" fmla="*/ 1420626 w 3329256"/>
              <a:gd name="connsiteY11" fmla="*/ 6075792 h 7984420"/>
              <a:gd name="connsiteX12" fmla="*/ 1420626 w 3329256"/>
              <a:gd name="connsiteY12" fmla="*/ 1908628 h 7984420"/>
              <a:gd name="connsiteX13" fmla="*/ 1420630 w 3329256"/>
              <a:gd name="connsiteY13" fmla="*/ 1908628 h 7984420"/>
              <a:gd name="connsiteX14" fmla="*/ 1413296 w 3329256"/>
              <a:gd name="connsiteY14" fmla="*/ 1763378 h 7984420"/>
              <a:gd name="connsiteX15" fmla="*/ 0 w 3329256"/>
              <a:gd name="connsiteY15" fmla="*/ 487999 h 798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29256" h="7984420">
                <a:moveTo>
                  <a:pt x="0" y="0"/>
                </a:moveTo>
                <a:lnTo>
                  <a:pt x="1" y="0"/>
                </a:lnTo>
                <a:cubicBezTo>
                  <a:pt x="988227" y="0"/>
                  <a:pt x="1801035" y="751045"/>
                  <a:pt x="1898776" y="1713483"/>
                </a:cubicBezTo>
                <a:lnTo>
                  <a:pt x="1908630" y="1908628"/>
                </a:lnTo>
                <a:lnTo>
                  <a:pt x="1908630" y="6075792"/>
                </a:lnTo>
                <a:lnTo>
                  <a:pt x="1908626" y="6075792"/>
                </a:lnTo>
                <a:lnTo>
                  <a:pt x="1915960" y="6221042"/>
                </a:lnTo>
                <a:cubicBezTo>
                  <a:pt x="1988711" y="6937403"/>
                  <a:pt x="2593701" y="7496421"/>
                  <a:pt x="3329256" y="7496421"/>
                </a:cubicBezTo>
                <a:lnTo>
                  <a:pt x="3329256" y="7984420"/>
                </a:lnTo>
                <a:lnTo>
                  <a:pt x="3329255" y="7984420"/>
                </a:lnTo>
                <a:cubicBezTo>
                  <a:pt x="2341029" y="7984420"/>
                  <a:pt x="1528221" y="7233375"/>
                  <a:pt x="1430480" y="6270937"/>
                </a:cubicBezTo>
                <a:lnTo>
                  <a:pt x="1420626" y="6075792"/>
                </a:lnTo>
                <a:lnTo>
                  <a:pt x="1420626" y="1908628"/>
                </a:lnTo>
                <a:lnTo>
                  <a:pt x="1420630" y="1908628"/>
                </a:lnTo>
                <a:lnTo>
                  <a:pt x="1413296" y="1763378"/>
                </a:lnTo>
                <a:cubicBezTo>
                  <a:pt x="1340545" y="1047017"/>
                  <a:pt x="735555" y="487999"/>
                  <a:pt x="0" y="487999"/>
                </a:cubicBezTo>
                <a:close/>
              </a:path>
            </a:pathLst>
          </a:custGeom>
          <a:gradFill flip="none" rotWithShape="1">
            <a:gsLst>
              <a:gs pos="61000">
                <a:srgbClr val="00CC99"/>
              </a:gs>
              <a:gs pos="27400">
                <a:srgbClr val="33CCFF"/>
              </a:gs>
              <a:gs pos="0">
                <a:srgbClr val="000099"/>
              </a:gs>
              <a:gs pos="100000">
                <a:srgbClr val="006600"/>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 name="Group 2">
            <a:extLst>
              <a:ext uri="{FF2B5EF4-FFF2-40B4-BE49-F238E27FC236}">
                <a16:creationId xmlns:a16="http://schemas.microsoft.com/office/drawing/2014/main" id="{5CB93AC6-FE87-4FA9-BBD4-F140C94A9C2A}"/>
              </a:ext>
            </a:extLst>
          </p:cNvPr>
          <p:cNvGrpSpPr/>
          <p:nvPr/>
        </p:nvGrpSpPr>
        <p:grpSpPr>
          <a:xfrm>
            <a:off x="1437348" y="1240019"/>
            <a:ext cx="7200000" cy="1080000"/>
            <a:chOff x="1437350" y="1240020"/>
            <a:chExt cx="4301630" cy="635091"/>
          </a:xfrm>
        </p:grpSpPr>
        <p:sp>
          <p:nvSpPr>
            <p:cNvPr id="6" name="Freeform: Shape 5">
              <a:extLst>
                <a:ext uri="{FF2B5EF4-FFF2-40B4-BE49-F238E27FC236}">
                  <a16:creationId xmlns:a16="http://schemas.microsoft.com/office/drawing/2014/main" id="{04A175DB-5D33-43C8-AAE4-B1E831D1A234}"/>
                </a:ext>
              </a:extLst>
            </p:cNvPr>
            <p:cNvSpPr/>
            <p:nvPr/>
          </p:nvSpPr>
          <p:spPr>
            <a:xfrm flipV="1">
              <a:off x="1437350" y="1240020"/>
              <a:ext cx="4301630" cy="635091"/>
            </a:xfrm>
            <a:custGeom>
              <a:avLst/>
              <a:gdLst>
                <a:gd name="connsiteX0" fmla="*/ 314185 w 3126929"/>
                <a:gd name="connsiteY0" fmla="*/ 0 h 727424"/>
                <a:gd name="connsiteX1" fmla="*/ 3126929 w 3126929"/>
                <a:gd name="connsiteY1" fmla="*/ 0 h 727424"/>
                <a:gd name="connsiteX2" fmla="*/ 3126929 w 3126929"/>
                <a:gd name="connsiteY2" fmla="*/ 413239 h 727424"/>
                <a:gd name="connsiteX3" fmla="*/ 314185 w 3126929"/>
                <a:gd name="connsiteY3" fmla="*/ 413239 h 727424"/>
                <a:gd name="connsiteX4" fmla="*/ 0 w 3126929"/>
                <a:gd name="connsiteY4" fmla="*/ 727424 h 727424"/>
                <a:gd name="connsiteX5" fmla="*/ 0 w 3126929"/>
                <a:gd name="connsiteY5" fmla="*/ 314185 h 727424"/>
                <a:gd name="connsiteX6" fmla="*/ 314185 w 3126929"/>
                <a:gd name="connsiteY6" fmla="*/ 0 h 727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6929" h="727424">
                  <a:moveTo>
                    <a:pt x="314185" y="0"/>
                  </a:moveTo>
                  <a:lnTo>
                    <a:pt x="3126929" y="0"/>
                  </a:lnTo>
                  <a:lnTo>
                    <a:pt x="3126929" y="413239"/>
                  </a:lnTo>
                  <a:lnTo>
                    <a:pt x="314185" y="413239"/>
                  </a:lnTo>
                  <a:cubicBezTo>
                    <a:pt x="140665" y="413239"/>
                    <a:pt x="0" y="553904"/>
                    <a:pt x="0" y="727424"/>
                  </a:cubicBezTo>
                  <a:lnTo>
                    <a:pt x="0" y="314185"/>
                  </a:lnTo>
                  <a:cubicBezTo>
                    <a:pt x="0" y="140665"/>
                    <a:pt x="140665" y="0"/>
                    <a:pt x="314185" y="0"/>
                  </a:cubicBezTo>
                  <a:close/>
                </a:path>
              </a:pathLst>
            </a:custGeom>
            <a:solidFill>
              <a:srgbClr val="0066CC"/>
            </a:solidFill>
            <a:ln>
              <a:noFill/>
            </a:ln>
            <a:effectLst>
              <a:outerShdw blurRad="508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E0ECA3F-8570-4FB5-931A-BBA5339DECE3}"/>
                </a:ext>
              </a:extLst>
            </p:cNvPr>
            <p:cNvSpPr txBox="1"/>
            <p:nvPr/>
          </p:nvSpPr>
          <p:spPr>
            <a:xfrm>
              <a:off x="1925742" y="1552614"/>
              <a:ext cx="3656386" cy="2714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Creating an executive data summary</a:t>
              </a:r>
            </a:p>
          </p:txBody>
        </p:sp>
      </p:grpSp>
      <p:sp>
        <p:nvSpPr>
          <p:cNvPr id="8" name="TextBox 7">
            <a:extLst>
              <a:ext uri="{FF2B5EF4-FFF2-40B4-BE49-F238E27FC236}">
                <a16:creationId xmlns:a16="http://schemas.microsoft.com/office/drawing/2014/main" id="{67A620AF-3788-4F4E-848F-1363C314793B}"/>
              </a:ext>
            </a:extLst>
          </p:cNvPr>
          <p:cNvSpPr txBox="1"/>
          <p:nvPr/>
        </p:nvSpPr>
        <p:spPr>
          <a:xfrm>
            <a:off x="1337029" y="823948"/>
            <a:ext cx="65314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1</a:t>
            </a:r>
          </a:p>
        </p:txBody>
      </p:sp>
      <p:grpSp>
        <p:nvGrpSpPr>
          <p:cNvPr id="4" name="Group 3">
            <a:extLst>
              <a:ext uri="{FF2B5EF4-FFF2-40B4-BE49-F238E27FC236}">
                <a16:creationId xmlns:a16="http://schemas.microsoft.com/office/drawing/2014/main" id="{C9AEF2E9-14F9-4365-BFB5-3C0CF7A052E9}"/>
              </a:ext>
            </a:extLst>
          </p:cNvPr>
          <p:cNvGrpSpPr/>
          <p:nvPr/>
        </p:nvGrpSpPr>
        <p:grpSpPr>
          <a:xfrm>
            <a:off x="1437351" y="2583833"/>
            <a:ext cx="7200000" cy="1080000"/>
            <a:chOff x="1437351" y="2358629"/>
            <a:chExt cx="7200000" cy="1080000"/>
          </a:xfrm>
        </p:grpSpPr>
        <p:sp>
          <p:nvSpPr>
            <p:cNvPr id="10" name="Freeform: Shape 9">
              <a:extLst>
                <a:ext uri="{FF2B5EF4-FFF2-40B4-BE49-F238E27FC236}">
                  <a16:creationId xmlns:a16="http://schemas.microsoft.com/office/drawing/2014/main" id="{C14AB1F3-023E-48AE-989E-4EA1B96825EF}"/>
                </a:ext>
              </a:extLst>
            </p:cNvPr>
            <p:cNvSpPr/>
            <p:nvPr/>
          </p:nvSpPr>
          <p:spPr>
            <a:xfrm flipV="1">
              <a:off x="1437351" y="2358629"/>
              <a:ext cx="7200000" cy="1080000"/>
            </a:xfrm>
            <a:custGeom>
              <a:avLst/>
              <a:gdLst>
                <a:gd name="connsiteX0" fmla="*/ 314185 w 3126929"/>
                <a:gd name="connsiteY0" fmla="*/ 0 h 727424"/>
                <a:gd name="connsiteX1" fmla="*/ 3126929 w 3126929"/>
                <a:gd name="connsiteY1" fmla="*/ 0 h 727424"/>
                <a:gd name="connsiteX2" fmla="*/ 3126929 w 3126929"/>
                <a:gd name="connsiteY2" fmla="*/ 413239 h 727424"/>
                <a:gd name="connsiteX3" fmla="*/ 314185 w 3126929"/>
                <a:gd name="connsiteY3" fmla="*/ 413239 h 727424"/>
                <a:gd name="connsiteX4" fmla="*/ 0 w 3126929"/>
                <a:gd name="connsiteY4" fmla="*/ 727424 h 727424"/>
                <a:gd name="connsiteX5" fmla="*/ 0 w 3126929"/>
                <a:gd name="connsiteY5" fmla="*/ 314185 h 727424"/>
                <a:gd name="connsiteX6" fmla="*/ 314185 w 3126929"/>
                <a:gd name="connsiteY6" fmla="*/ 0 h 727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6929" h="727424">
                  <a:moveTo>
                    <a:pt x="314185" y="0"/>
                  </a:moveTo>
                  <a:lnTo>
                    <a:pt x="3126929" y="0"/>
                  </a:lnTo>
                  <a:lnTo>
                    <a:pt x="3126929" y="413239"/>
                  </a:lnTo>
                  <a:lnTo>
                    <a:pt x="314185" y="413239"/>
                  </a:lnTo>
                  <a:cubicBezTo>
                    <a:pt x="140665" y="413239"/>
                    <a:pt x="0" y="553904"/>
                    <a:pt x="0" y="727424"/>
                  </a:cubicBezTo>
                  <a:lnTo>
                    <a:pt x="0" y="314185"/>
                  </a:lnTo>
                  <a:cubicBezTo>
                    <a:pt x="0" y="140665"/>
                    <a:pt x="140665" y="0"/>
                    <a:pt x="314185" y="0"/>
                  </a:cubicBezTo>
                  <a:close/>
                </a:path>
              </a:pathLst>
            </a:custGeom>
            <a:solidFill>
              <a:srgbClr val="FF9900"/>
            </a:solidFill>
            <a:ln>
              <a:noFill/>
            </a:ln>
            <a:effectLst>
              <a:outerShdw blurRad="508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6470A834-DA13-468F-A794-3687E8A14304}"/>
                </a:ext>
              </a:extLst>
            </p:cNvPr>
            <p:cNvSpPr txBox="1"/>
            <p:nvPr/>
          </p:nvSpPr>
          <p:spPr>
            <a:xfrm>
              <a:off x="2254811" y="2914418"/>
              <a:ext cx="61200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prstClr val="white"/>
                  </a:solidFill>
                  <a:latin typeface="Open Sans" panose="020B0606030504020204" pitchFamily="34" charset="0"/>
                  <a:ea typeface="Open Sans" panose="020B0606030504020204" pitchFamily="34" charset="0"/>
                  <a:cs typeface="Open Sans" panose="020B0606030504020204" pitchFamily="34" charset="0"/>
                </a:rPr>
                <a:t>Final Exam</a:t>
              </a:r>
              <a:endParaRPr kumimoji="0" lang="en-US" sz="2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5" name="TextBox 14">
            <a:extLst>
              <a:ext uri="{FF2B5EF4-FFF2-40B4-BE49-F238E27FC236}">
                <a16:creationId xmlns:a16="http://schemas.microsoft.com/office/drawing/2014/main" id="{8F01748C-1478-4628-8CDE-6C69DF1916E8}"/>
              </a:ext>
            </a:extLst>
          </p:cNvPr>
          <p:cNvSpPr txBox="1"/>
          <p:nvPr/>
        </p:nvSpPr>
        <p:spPr>
          <a:xfrm>
            <a:off x="1337029" y="2213333"/>
            <a:ext cx="65314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2</a:t>
            </a:r>
          </a:p>
        </p:txBody>
      </p:sp>
      <p:grpSp>
        <p:nvGrpSpPr>
          <p:cNvPr id="42" name="Group 41">
            <a:extLst>
              <a:ext uri="{FF2B5EF4-FFF2-40B4-BE49-F238E27FC236}">
                <a16:creationId xmlns:a16="http://schemas.microsoft.com/office/drawing/2014/main" id="{06664870-6B63-42D0-8F14-11DB5DD34C01}"/>
              </a:ext>
            </a:extLst>
          </p:cNvPr>
          <p:cNvGrpSpPr/>
          <p:nvPr/>
        </p:nvGrpSpPr>
        <p:grpSpPr>
          <a:xfrm>
            <a:off x="1447177" y="5329220"/>
            <a:ext cx="7200000" cy="1080000"/>
            <a:chOff x="1437351" y="3508484"/>
            <a:chExt cx="7200000" cy="1080000"/>
          </a:xfrm>
        </p:grpSpPr>
        <p:sp>
          <p:nvSpPr>
            <p:cNvPr id="17" name="Freeform: Shape 16">
              <a:extLst>
                <a:ext uri="{FF2B5EF4-FFF2-40B4-BE49-F238E27FC236}">
                  <a16:creationId xmlns:a16="http://schemas.microsoft.com/office/drawing/2014/main" id="{DA4F560C-A913-4090-9959-6C383EC2884F}"/>
                </a:ext>
              </a:extLst>
            </p:cNvPr>
            <p:cNvSpPr/>
            <p:nvPr/>
          </p:nvSpPr>
          <p:spPr>
            <a:xfrm flipV="1">
              <a:off x="1437351" y="3508484"/>
              <a:ext cx="7200000" cy="1080000"/>
            </a:xfrm>
            <a:custGeom>
              <a:avLst/>
              <a:gdLst>
                <a:gd name="connsiteX0" fmla="*/ 314185 w 3126929"/>
                <a:gd name="connsiteY0" fmla="*/ 0 h 727424"/>
                <a:gd name="connsiteX1" fmla="*/ 3126929 w 3126929"/>
                <a:gd name="connsiteY1" fmla="*/ 0 h 727424"/>
                <a:gd name="connsiteX2" fmla="*/ 3126929 w 3126929"/>
                <a:gd name="connsiteY2" fmla="*/ 413239 h 727424"/>
                <a:gd name="connsiteX3" fmla="*/ 314185 w 3126929"/>
                <a:gd name="connsiteY3" fmla="*/ 413239 h 727424"/>
                <a:gd name="connsiteX4" fmla="*/ 0 w 3126929"/>
                <a:gd name="connsiteY4" fmla="*/ 727424 h 727424"/>
                <a:gd name="connsiteX5" fmla="*/ 0 w 3126929"/>
                <a:gd name="connsiteY5" fmla="*/ 314185 h 727424"/>
                <a:gd name="connsiteX6" fmla="*/ 314185 w 3126929"/>
                <a:gd name="connsiteY6" fmla="*/ 0 h 727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6929" h="727424">
                  <a:moveTo>
                    <a:pt x="314185" y="0"/>
                  </a:moveTo>
                  <a:lnTo>
                    <a:pt x="3126929" y="0"/>
                  </a:lnTo>
                  <a:lnTo>
                    <a:pt x="3126929" y="413239"/>
                  </a:lnTo>
                  <a:lnTo>
                    <a:pt x="314185" y="413239"/>
                  </a:lnTo>
                  <a:cubicBezTo>
                    <a:pt x="140665" y="413239"/>
                    <a:pt x="0" y="553904"/>
                    <a:pt x="0" y="727424"/>
                  </a:cubicBezTo>
                  <a:lnTo>
                    <a:pt x="0" y="314185"/>
                  </a:lnTo>
                  <a:cubicBezTo>
                    <a:pt x="0" y="140665"/>
                    <a:pt x="140665" y="0"/>
                    <a:pt x="314185" y="0"/>
                  </a:cubicBezTo>
                  <a:close/>
                </a:path>
              </a:pathLst>
            </a:custGeom>
            <a:solidFill>
              <a:srgbClr val="00B050"/>
            </a:solidFill>
            <a:ln>
              <a:noFill/>
            </a:ln>
            <a:effectLst>
              <a:outerShdw blurRad="508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91C56302-C5A7-4907-ABF1-8DD9AEA874F5}"/>
                </a:ext>
              </a:extLst>
            </p:cNvPr>
            <p:cNvSpPr txBox="1"/>
            <p:nvPr/>
          </p:nvSpPr>
          <p:spPr>
            <a:xfrm>
              <a:off x="2254811" y="4062489"/>
              <a:ext cx="61200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Working with worksheets</a:t>
              </a:r>
            </a:p>
          </p:txBody>
        </p:sp>
      </p:grpSp>
      <p:sp>
        <p:nvSpPr>
          <p:cNvPr id="19" name="TextBox 18">
            <a:extLst>
              <a:ext uri="{FF2B5EF4-FFF2-40B4-BE49-F238E27FC236}">
                <a16:creationId xmlns:a16="http://schemas.microsoft.com/office/drawing/2014/main" id="{8A7C455A-AC74-479B-AE4B-995389E7560F}"/>
              </a:ext>
            </a:extLst>
          </p:cNvPr>
          <p:cNvSpPr txBox="1"/>
          <p:nvPr/>
        </p:nvSpPr>
        <p:spPr>
          <a:xfrm>
            <a:off x="1366405" y="3602718"/>
            <a:ext cx="65314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3</a:t>
            </a:r>
          </a:p>
        </p:txBody>
      </p:sp>
      <p:grpSp>
        <p:nvGrpSpPr>
          <p:cNvPr id="14" name="Group 13">
            <a:extLst>
              <a:ext uri="{FF2B5EF4-FFF2-40B4-BE49-F238E27FC236}">
                <a16:creationId xmlns:a16="http://schemas.microsoft.com/office/drawing/2014/main" id="{779F337C-E9DD-5BB7-A57A-A5B98F1D4D90}"/>
              </a:ext>
            </a:extLst>
          </p:cNvPr>
          <p:cNvGrpSpPr/>
          <p:nvPr/>
        </p:nvGrpSpPr>
        <p:grpSpPr>
          <a:xfrm>
            <a:off x="8151095" y="218152"/>
            <a:ext cx="3845427" cy="686723"/>
            <a:chOff x="8151095" y="218152"/>
            <a:chExt cx="3845427" cy="686723"/>
          </a:xfrm>
        </p:grpSpPr>
        <p:pic>
          <p:nvPicPr>
            <p:cNvPr id="12" name="Picture 11">
              <a:extLst>
                <a:ext uri="{FF2B5EF4-FFF2-40B4-BE49-F238E27FC236}">
                  <a16:creationId xmlns:a16="http://schemas.microsoft.com/office/drawing/2014/main" id="{690D02C9-9DA4-FCBE-F68F-A9A1766C1260}"/>
                </a:ext>
              </a:extLst>
            </p:cNvPr>
            <p:cNvPicPr>
              <a:picLocks noChangeAspect="1"/>
            </p:cNvPicPr>
            <p:nvPr/>
          </p:nvPicPr>
          <p:blipFill>
            <a:blip r:embed="rId2"/>
            <a:stretch>
              <a:fillRect/>
            </a:stretch>
          </p:blipFill>
          <p:spPr>
            <a:xfrm>
              <a:off x="8151095" y="218152"/>
              <a:ext cx="3810478" cy="686723"/>
            </a:xfrm>
            <a:prstGeom prst="rect">
              <a:avLst/>
            </a:prstGeom>
          </p:spPr>
        </p:pic>
        <p:sp>
          <p:nvSpPr>
            <p:cNvPr id="13" name="Rectangle 12">
              <a:extLst>
                <a:ext uri="{FF2B5EF4-FFF2-40B4-BE49-F238E27FC236}">
                  <a16:creationId xmlns:a16="http://schemas.microsoft.com/office/drawing/2014/main" id="{CC01717C-465E-2436-D392-D9259C327738}"/>
                </a:ext>
              </a:extLst>
            </p:cNvPr>
            <p:cNvSpPr/>
            <p:nvPr/>
          </p:nvSpPr>
          <p:spPr>
            <a:xfrm>
              <a:off x="11942522" y="733425"/>
              <a:ext cx="54000" cy="171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4" name="TextBox 23">
            <a:extLst>
              <a:ext uri="{FF2B5EF4-FFF2-40B4-BE49-F238E27FC236}">
                <a16:creationId xmlns:a16="http://schemas.microsoft.com/office/drawing/2014/main" id="{F28DE21C-873B-344C-A465-A639A1B098E8}"/>
              </a:ext>
            </a:extLst>
          </p:cNvPr>
          <p:cNvSpPr txBox="1"/>
          <p:nvPr/>
        </p:nvSpPr>
        <p:spPr>
          <a:xfrm>
            <a:off x="1345307" y="5007647"/>
            <a:ext cx="65314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4</a:t>
            </a:r>
          </a:p>
        </p:txBody>
      </p:sp>
      <p:grpSp>
        <p:nvGrpSpPr>
          <p:cNvPr id="25" name="Group 24">
            <a:extLst>
              <a:ext uri="{FF2B5EF4-FFF2-40B4-BE49-F238E27FC236}">
                <a16:creationId xmlns:a16="http://schemas.microsoft.com/office/drawing/2014/main" id="{2F30A51E-D36B-3EAF-F057-85142A6D4A20}"/>
              </a:ext>
            </a:extLst>
          </p:cNvPr>
          <p:cNvGrpSpPr/>
          <p:nvPr/>
        </p:nvGrpSpPr>
        <p:grpSpPr>
          <a:xfrm>
            <a:off x="1589751" y="4080047"/>
            <a:ext cx="7200000" cy="1080000"/>
            <a:chOff x="1437351" y="3508484"/>
            <a:chExt cx="7200000" cy="1080000"/>
          </a:xfrm>
        </p:grpSpPr>
        <p:sp>
          <p:nvSpPr>
            <p:cNvPr id="26" name="Freeform: Shape 25">
              <a:extLst>
                <a:ext uri="{FF2B5EF4-FFF2-40B4-BE49-F238E27FC236}">
                  <a16:creationId xmlns:a16="http://schemas.microsoft.com/office/drawing/2014/main" id="{D53EC2E2-FC97-3507-A998-16F8A7E9E09B}"/>
                </a:ext>
              </a:extLst>
            </p:cNvPr>
            <p:cNvSpPr/>
            <p:nvPr/>
          </p:nvSpPr>
          <p:spPr>
            <a:xfrm flipV="1">
              <a:off x="1437351" y="3508484"/>
              <a:ext cx="7200000" cy="1080000"/>
            </a:xfrm>
            <a:custGeom>
              <a:avLst/>
              <a:gdLst>
                <a:gd name="connsiteX0" fmla="*/ 314185 w 3126929"/>
                <a:gd name="connsiteY0" fmla="*/ 0 h 727424"/>
                <a:gd name="connsiteX1" fmla="*/ 3126929 w 3126929"/>
                <a:gd name="connsiteY1" fmla="*/ 0 h 727424"/>
                <a:gd name="connsiteX2" fmla="*/ 3126929 w 3126929"/>
                <a:gd name="connsiteY2" fmla="*/ 413239 h 727424"/>
                <a:gd name="connsiteX3" fmla="*/ 314185 w 3126929"/>
                <a:gd name="connsiteY3" fmla="*/ 413239 h 727424"/>
                <a:gd name="connsiteX4" fmla="*/ 0 w 3126929"/>
                <a:gd name="connsiteY4" fmla="*/ 727424 h 727424"/>
                <a:gd name="connsiteX5" fmla="*/ 0 w 3126929"/>
                <a:gd name="connsiteY5" fmla="*/ 314185 h 727424"/>
                <a:gd name="connsiteX6" fmla="*/ 314185 w 3126929"/>
                <a:gd name="connsiteY6" fmla="*/ 0 h 727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6929" h="727424">
                  <a:moveTo>
                    <a:pt x="314185" y="0"/>
                  </a:moveTo>
                  <a:lnTo>
                    <a:pt x="3126929" y="0"/>
                  </a:lnTo>
                  <a:lnTo>
                    <a:pt x="3126929" y="413239"/>
                  </a:lnTo>
                  <a:lnTo>
                    <a:pt x="314185" y="413239"/>
                  </a:lnTo>
                  <a:cubicBezTo>
                    <a:pt x="140665" y="413239"/>
                    <a:pt x="0" y="553904"/>
                    <a:pt x="0" y="727424"/>
                  </a:cubicBezTo>
                  <a:lnTo>
                    <a:pt x="0" y="314185"/>
                  </a:lnTo>
                  <a:cubicBezTo>
                    <a:pt x="0" y="140665"/>
                    <a:pt x="140665" y="0"/>
                    <a:pt x="314185" y="0"/>
                  </a:cubicBezTo>
                  <a:close/>
                </a:path>
              </a:pathLst>
            </a:custGeom>
            <a:solidFill>
              <a:srgbClr val="FF0066"/>
            </a:solidFill>
            <a:ln>
              <a:noFill/>
            </a:ln>
            <a:effectLst>
              <a:outerShdw blurRad="508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565B3264-2B4C-67F0-DD80-6CB413E08532}"/>
                </a:ext>
              </a:extLst>
            </p:cNvPr>
            <p:cNvSpPr txBox="1"/>
            <p:nvPr/>
          </p:nvSpPr>
          <p:spPr>
            <a:xfrm>
              <a:off x="2254811" y="4062489"/>
              <a:ext cx="61200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Working with rows and columns</a:t>
              </a:r>
            </a:p>
          </p:txBody>
        </p:sp>
      </p:grpSp>
    </p:spTree>
    <p:extLst>
      <p:ext uri="{BB962C8B-B14F-4D97-AF65-F5344CB8AC3E}">
        <p14:creationId xmlns:p14="http://schemas.microsoft.com/office/powerpoint/2010/main" val="1112761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par>
                          <p:cTn id="15" fill="hold">
                            <p:stCondLst>
                              <p:cond delay="500"/>
                            </p:stCondLst>
                            <p:childTnLst>
                              <p:par>
                                <p:cTn id="16" presetID="17" presetClass="entr" presetSubtype="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ppt_x</p:attrName>
                                        </p:attrNameLst>
                                      </p:cBhvr>
                                      <p:tavLst>
                                        <p:tav tm="0">
                                          <p:val>
                                            <p:strVal val="#ppt_x-#ppt_w/2"/>
                                          </p:val>
                                        </p:tav>
                                        <p:tav tm="100000">
                                          <p:val>
                                            <p:strVal val="#ppt_x"/>
                                          </p:val>
                                        </p:tav>
                                      </p:tavLst>
                                    </p:anim>
                                    <p:anim calcmode="lin" valueType="num">
                                      <p:cBhvr>
                                        <p:cTn id="19" dur="500" fill="hold"/>
                                        <p:tgtEl>
                                          <p:spTgt spid="3"/>
                                        </p:tgtEl>
                                        <p:attrNameLst>
                                          <p:attrName>ppt_y</p:attrName>
                                        </p:attrNameLst>
                                      </p:cBhvr>
                                      <p:tavLst>
                                        <p:tav tm="0">
                                          <p:val>
                                            <p:strVal val="#ppt_y"/>
                                          </p:val>
                                        </p:tav>
                                        <p:tav tm="100000">
                                          <p:val>
                                            <p:strVal val="#ppt_y"/>
                                          </p:val>
                                        </p:tav>
                                      </p:tavLst>
                                    </p:anim>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par>
                          <p:cTn id="29" fill="hold">
                            <p:stCondLst>
                              <p:cond delay="500"/>
                            </p:stCondLst>
                            <p:childTnLst>
                              <p:par>
                                <p:cTn id="30" presetID="17" presetClass="entr" presetSubtype="8"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ppt_x</p:attrName>
                                        </p:attrNameLst>
                                      </p:cBhvr>
                                      <p:tavLst>
                                        <p:tav tm="0">
                                          <p:val>
                                            <p:strVal val="#ppt_x-#ppt_w/2"/>
                                          </p:val>
                                        </p:tav>
                                        <p:tav tm="100000">
                                          <p:val>
                                            <p:strVal val="#ppt_x"/>
                                          </p:val>
                                        </p:tav>
                                      </p:tavLst>
                                    </p:anim>
                                    <p:anim calcmode="lin" valueType="num">
                                      <p:cBhvr>
                                        <p:cTn id="33" dur="500" fill="hold"/>
                                        <p:tgtEl>
                                          <p:spTgt spid="4"/>
                                        </p:tgtEl>
                                        <p:attrNameLst>
                                          <p:attrName>ppt_y</p:attrName>
                                        </p:attrNameLst>
                                      </p:cBhvr>
                                      <p:tavLst>
                                        <p:tav tm="0">
                                          <p:val>
                                            <p:strVal val="#ppt_y"/>
                                          </p:val>
                                        </p:tav>
                                        <p:tav tm="100000">
                                          <p:val>
                                            <p:strVal val="#ppt_y"/>
                                          </p:val>
                                        </p:tav>
                                      </p:tavLst>
                                    </p:anim>
                                    <p:anim calcmode="lin" valueType="num">
                                      <p:cBhvr>
                                        <p:cTn id="34" dur="500" fill="hold"/>
                                        <p:tgtEl>
                                          <p:spTgt spid="4"/>
                                        </p:tgtEl>
                                        <p:attrNameLst>
                                          <p:attrName>ppt_w</p:attrName>
                                        </p:attrNameLst>
                                      </p:cBhvr>
                                      <p:tavLst>
                                        <p:tav tm="0">
                                          <p:val>
                                            <p:fltVal val="0"/>
                                          </p:val>
                                        </p:tav>
                                        <p:tav tm="100000">
                                          <p:val>
                                            <p:strVal val="#ppt_w"/>
                                          </p:val>
                                        </p:tav>
                                      </p:tavLst>
                                    </p:anim>
                                    <p:anim calcmode="lin" valueType="num">
                                      <p:cBhvr>
                                        <p:cTn id="35"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Effect transition="in" filter="fade">
                                      <p:cBhvr>
                                        <p:cTn id="42" dur="500"/>
                                        <p:tgtEl>
                                          <p:spTgt spid="19"/>
                                        </p:tgtEl>
                                      </p:cBhvr>
                                    </p:animEffect>
                                  </p:childTnLst>
                                </p:cTn>
                              </p:par>
                            </p:childTnLst>
                          </p:cTn>
                        </p:par>
                        <p:par>
                          <p:cTn id="43" fill="hold">
                            <p:stCondLst>
                              <p:cond delay="500"/>
                            </p:stCondLst>
                            <p:childTnLst>
                              <p:par>
                                <p:cTn id="44" presetID="17" presetClass="entr" presetSubtype="8" fill="hold" nodeType="afterEffect">
                                  <p:stCondLst>
                                    <p:cond delay="0"/>
                                  </p:stCondLst>
                                  <p:childTnLst>
                                    <p:set>
                                      <p:cBhvr>
                                        <p:cTn id="45" dur="1" fill="hold">
                                          <p:stCondLst>
                                            <p:cond delay="0"/>
                                          </p:stCondLst>
                                        </p:cTn>
                                        <p:tgtEl>
                                          <p:spTgt spid="25"/>
                                        </p:tgtEl>
                                        <p:attrNameLst>
                                          <p:attrName>style.visibility</p:attrName>
                                        </p:attrNameLst>
                                      </p:cBhvr>
                                      <p:to>
                                        <p:strVal val="visible"/>
                                      </p:to>
                                    </p:set>
                                    <p:anim calcmode="lin" valueType="num">
                                      <p:cBhvr>
                                        <p:cTn id="46" dur="500" fill="hold"/>
                                        <p:tgtEl>
                                          <p:spTgt spid="25"/>
                                        </p:tgtEl>
                                        <p:attrNameLst>
                                          <p:attrName>ppt_x</p:attrName>
                                        </p:attrNameLst>
                                      </p:cBhvr>
                                      <p:tavLst>
                                        <p:tav tm="0">
                                          <p:val>
                                            <p:strVal val="#ppt_x-#ppt_w/2"/>
                                          </p:val>
                                        </p:tav>
                                        <p:tav tm="100000">
                                          <p:val>
                                            <p:strVal val="#ppt_x"/>
                                          </p:val>
                                        </p:tav>
                                      </p:tavLst>
                                    </p:anim>
                                    <p:anim calcmode="lin" valueType="num">
                                      <p:cBhvr>
                                        <p:cTn id="47" dur="500" fill="hold"/>
                                        <p:tgtEl>
                                          <p:spTgt spid="25"/>
                                        </p:tgtEl>
                                        <p:attrNameLst>
                                          <p:attrName>ppt_y</p:attrName>
                                        </p:attrNameLst>
                                      </p:cBhvr>
                                      <p:tavLst>
                                        <p:tav tm="0">
                                          <p:val>
                                            <p:strVal val="#ppt_y"/>
                                          </p:val>
                                        </p:tav>
                                        <p:tav tm="100000">
                                          <p:val>
                                            <p:strVal val="#ppt_y"/>
                                          </p:val>
                                        </p:tav>
                                      </p:tavLst>
                                    </p:anim>
                                    <p:anim calcmode="lin" valueType="num">
                                      <p:cBhvr>
                                        <p:cTn id="48" dur="500" fill="hold"/>
                                        <p:tgtEl>
                                          <p:spTgt spid="25"/>
                                        </p:tgtEl>
                                        <p:attrNameLst>
                                          <p:attrName>ppt_w</p:attrName>
                                        </p:attrNameLst>
                                      </p:cBhvr>
                                      <p:tavLst>
                                        <p:tav tm="0">
                                          <p:val>
                                            <p:fltVal val="0"/>
                                          </p:val>
                                        </p:tav>
                                        <p:tav tm="100000">
                                          <p:val>
                                            <p:strVal val="#ppt_w"/>
                                          </p:val>
                                        </p:tav>
                                      </p:tavLst>
                                    </p:anim>
                                    <p:anim calcmode="lin" valueType="num">
                                      <p:cBhvr>
                                        <p:cTn id="49"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p:cTn id="54" dur="500" fill="hold"/>
                                        <p:tgtEl>
                                          <p:spTgt spid="24"/>
                                        </p:tgtEl>
                                        <p:attrNameLst>
                                          <p:attrName>ppt_w</p:attrName>
                                        </p:attrNameLst>
                                      </p:cBhvr>
                                      <p:tavLst>
                                        <p:tav tm="0">
                                          <p:val>
                                            <p:fltVal val="0"/>
                                          </p:val>
                                        </p:tav>
                                        <p:tav tm="100000">
                                          <p:val>
                                            <p:strVal val="#ppt_w"/>
                                          </p:val>
                                        </p:tav>
                                      </p:tavLst>
                                    </p:anim>
                                    <p:anim calcmode="lin" valueType="num">
                                      <p:cBhvr>
                                        <p:cTn id="55" dur="500" fill="hold"/>
                                        <p:tgtEl>
                                          <p:spTgt spid="24"/>
                                        </p:tgtEl>
                                        <p:attrNameLst>
                                          <p:attrName>ppt_h</p:attrName>
                                        </p:attrNameLst>
                                      </p:cBhvr>
                                      <p:tavLst>
                                        <p:tav tm="0">
                                          <p:val>
                                            <p:fltVal val="0"/>
                                          </p:val>
                                        </p:tav>
                                        <p:tav tm="100000">
                                          <p:val>
                                            <p:strVal val="#ppt_h"/>
                                          </p:val>
                                        </p:tav>
                                      </p:tavLst>
                                    </p:anim>
                                    <p:animEffect transition="in" filter="fade">
                                      <p:cBhvr>
                                        <p:cTn id="56" dur="500"/>
                                        <p:tgtEl>
                                          <p:spTgt spid="24"/>
                                        </p:tgtEl>
                                      </p:cBhvr>
                                    </p:animEffect>
                                  </p:childTnLst>
                                </p:cTn>
                              </p:par>
                            </p:childTnLst>
                          </p:cTn>
                        </p:par>
                        <p:par>
                          <p:cTn id="57" fill="hold">
                            <p:stCondLst>
                              <p:cond delay="500"/>
                            </p:stCondLst>
                            <p:childTnLst>
                              <p:par>
                                <p:cTn id="58" presetID="17" presetClass="entr" presetSubtype="8" fill="hold" nodeType="afterEffect">
                                  <p:stCondLst>
                                    <p:cond delay="0"/>
                                  </p:stCondLst>
                                  <p:childTnLst>
                                    <p:set>
                                      <p:cBhvr>
                                        <p:cTn id="59" dur="1" fill="hold">
                                          <p:stCondLst>
                                            <p:cond delay="0"/>
                                          </p:stCondLst>
                                        </p:cTn>
                                        <p:tgtEl>
                                          <p:spTgt spid="42"/>
                                        </p:tgtEl>
                                        <p:attrNameLst>
                                          <p:attrName>style.visibility</p:attrName>
                                        </p:attrNameLst>
                                      </p:cBhvr>
                                      <p:to>
                                        <p:strVal val="visible"/>
                                      </p:to>
                                    </p:set>
                                    <p:anim calcmode="lin" valueType="num">
                                      <p:cBhvr>
                                        <p:cTn id="60" dur="500" fill="hold"/>
                                        <p:tgtEl>
                                          <p:spTgt spid="42"/>
                                        </p:tgtEl>
                                        <p:attrNameLst>
                                          <p:attrName>ppt_x</p:attrName>
                                        </p:attrNameLst>
                                      </p:cBhvr>
                                      <p:tavLst>
                                        <p:tav tm="0">
                                          <p:val>
                                            <p:strVal val="#ppt_x-#ppt_w/2"/>
                                          </p:val>
                                        </p:tav>
                                        <p:tav tm="100000">
                                          <p:val>
                                            <p:strVal val="#ppt_x"/>
                                          </p:val>
                                        </p:tav>
                                      </p:tavLst>
                                    </p:anim>
                                    <p:anim calcmode="lin" valueType="num">
                                      <p:cBhvr>
                                        <p:cTn id="61" dur="500" fill="hold"/>
                                        <p:tgtEl>
                                          <p:spTgt spid="42"/>
                                        </p:tgtEl>
                                        <p:attrNameLst>
                                          <p:attrName>ppt_y</p:attrName>
                                        </p:attrNameLst>
                                      </p:cBhvr>
                                      <p:tavLst>
                                        <p:tav tm="0">
                                          <p:val>
                                            <p:strVal val="#ppt_y"/>
                                          </p:val>
                                        </p:tav>
                                        <p:tav tm="100000">
                                          <p:val>
                                            <p:strVal val="#ppt_y"/>
                                          </p:val>
                                        </p:tav>
                                      </p:tavLst>
                                    </p:anim>
                                    <p:anim calcmode="lin" valueType="num">
                                      <p:cBhvr>
                                        <p:cTn id="62" dur="500" fill="hold"/>
                                        <p:tgtEl>
                                          <p:spTgt spid="42"/>
                                        </p:tgtEl>
                                        <p:attrNameLst>
                                          <p:attrName>ppt_w</p:attrName>
                                        </p:attrNameLst>
                                      </p:cBhvr>
                                      <p:tavLst>
                                        <p:tav tm="0">
                                          <p:val>
                                            <p:fltVal val="0"/>
                                          </p:val>
                                        </p:tav>
                                        <p:tav tm="100000">
                                          <p:val>
                                            <p:strVal val="#ppt_w"/>
                                          </p:val>
                                        </p:tav>
                                      </p:tavLst>
                                    </p:anim>
                                    <p:anim calcmode="lin" valueType="num">
                                      <p:cBhvr>
                                        <p:cTn id="63" dur="500" fill="hold"/>
                                        <p:tgtEl>
                                          <p:spTgt spid="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15" grpId="0"/>
      <p:bldP spid="19"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he Five Phases Of Project Management">
            <a:extLst>
              <a:ext uri="{FF2B5EF4-FFF2-40B4-BE49-F238E27FC236}">
                <a16:creationId xmlns:a16="http://schemas.microsoft.com/office/drawing/2014/main" id="{40CF27B2-5536-96AF-5043-1C2C37FA32B9}"/>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t="9379" b="5716"/>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B261D49-1B3A-9F7E-17B9-F220307F6E9E}"/>
              </a:ext>
            </a:extLst>
          </p:cNvPr>
          <p:cNvSpPr txBox="1"/>
          <p:nvPr/>
        </p:nvSpPr>
        <p:spPr>
          <a:xfrm>
            <a:off x="1524000" y="1122362"/>
            <a:ext cx="9144000" cy="2900518"/>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7200" b="1" dirty="0">
                <a:solidFill>
                  <a:srgbClr val="FFFFFF"/>
                </a:solidFill>
                <a:effectLst/>
                <a:latin typeface="+mj-lt"/>
                <a:ea typeface="+mj-ea"/>
                <a:cs typeface="+mj-cs"/>
              </a:rPr>
              <a:t>Creating an executive data summary</a:t>
            </a:r>
          </a:p>
        </p:txBody>
      </p:sp>
    </p:spTree>
    <p:extLst>
      <p:ext uri="{BB962C8B-B14F-4D97-AF65-F5344CB8AC3E}">
        <p14:creationId xmlns:p14="http://schemas.microsoft.com/office/powerpoint/2010/main" val="29780029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ummary worksheet with prefilled sales data. No formulas created.">
            <a:extLst>
              <a:ext uri="{FF2B5EF4-FFF2-40B4-BE49-F238E27FC236}">
                <a16:creationId xmlns:a16="http://schemas.microsoft.com/office/drawing/2014/main" id="{4B89A457-23C2-BCF1-A0DC-4AC47253129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5719" y="686542"/>
            <a:ext cx="9752814" cy="5484916"/>
          </a:xfrm>
          <a:prstGeom prst="rect">
            <a:avLst/>
          </a:prstGeom>
          <a:noFill/>
          <a:ln>
            <a:noFill/>
          </a:ln>
        </p:spPr>
      </p:pic>
    </p:spTree>
    <p:extLst>
      <p:ext uri="{BB962C8B-B14F-4D97-AF65-F5344CB8AC3E}">
        <p14:creationId xmlns:p14="http://schemas.microsoft.com/office/powerpoint/2010/main" val="1474361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8F4A9B-D87E-911D-AA8E-03035784D9D8}"/>
              </a:ext>
            </a:extLst>
          </p:cNvPr>
          <p:cNvSpPr txBox="1"/>
          <p:nvPr/>
        </p:nvSpPr>
        <p:spPr>
          <a:xfrm>
            <a:off x="824752" y="719139"/>
            <a:ext cx="9789459" cy="4558877"/>
          </a:xfrm>
          <a:prstGeom prst="rect">
            <a:avLst/>
          </a:prstGeom>
          <a:noFill/>
        </p:spPr>
        <p:txBody>
          <a:bodyPr wrap="square">
            <a:spAutoFit/>
          </a:bodyPr>
          <a:lstStyle/>
          <a:p>
            <a:pPr>
              <a:lnSpc>
                <a:spcPct val="107000"/>
              </a:lnSpc>
              <a:spcBef>
                <a:spcPts val="200"/>
              </a:spcBef>
            </a:pPr>
            <a:r>
              <a:rPr lang="en-US" sz="28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Case study</a:t>
            </a:r>
          </a:p>
          <a:p>
            <a:pPr>
              <a:lnSpc>
                <a:spcPct val="107000"/>
              </a:lnSpc>
              <a:spcBef>
                <a:spcPts val="200"/>
              </a:spcBef>
            </a:pPr>
            <a:endParaRPr lang="en-US" sz="3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20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Jamie is attending a management meeting. She has been asked to prepare an Excel worksheet that presents sales figures for the first quarter of the year and compares these figures to the results for the same period in the previous year. </a:t>
            </a:r>
            <a:endParaRPr lang="en-US" sz="20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This worksheet is called </a:t>
            </a:r>
            <a:r>
              <a:rPr lang="en-US" sz="2000" b="1" dirty="0">
                <a:solidFill>
                  <a:srgbClr val="1F1F1F"/>
                </a:solidFill>
                <a:effectLst/>
                <a:latin typeface="unset"/>
                <a:ea typeface="Times New Roman" panose="02020603050405020304" pitchFamily="18" charset="0"/>
                <a:cs typeface="Arial" panose="020B0604020202020204" pitchFamily="34" charset="0"/>
              </a:rPr>
              <a:t>Summary </a:t>
            </a:r>
            <a:r>
              <a:rPr lang="en-US" sz="20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and is in the workbook </a:t>
            </a:r>
            <a:r>
              <a:rPr lang="en-US" sz="2000" i="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Quarter One Report.xlsx</a:t>
            </a:r>
            <a:r>
              <a:rPr lang="en-US" sz="20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In this worksheet, you’ll need to complete the following actions:</a:t>
            </a:r>
            <a:endParaRPr lang="en-US" sz="2000" dirty="0">
              <a:effectLst/>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SzPts val="1000"/>
              <a:buFont typeface="Arial" panose="020B0604020202020204" pitchFamily="34" charset="0"/>
              <a:buChar char="•"/>
              <a:tabLst>
                <a:tab pos="457200" algn="l"/>
              </a:tabLst>
            </a:pPr>
            <a:r>
              <a:rPr lang="en-US" sz="20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Create formulas that show the total quarter-one sales for both 2022 and 2023.</a:t>
            </a:r>
            <a:endParaRPr lang="en-US" sz="2000" dirty="0">
              <a:solidFill>
                <a:srgbClr val="1F1F1F"/>
              </a:solidFill>
              <a:effectLst/>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SzPts val="1000"/>
              <a:buFont typeface="Arial" panose="020B0604020202020204" pitchFamily="34" charset="0"/>
              <a:buChar char="•"/>
              <a:tabLst>
                <a:tab pos="457200" algn="l"/>
              </a:tabLst>
            </a:pPr>
            <a:r>
              <a:rPr lang="en-US" sz="20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Create formulas that show the percentage increase in sales in 2023. </a:t>
            </a:r>
            <a:endParaRPr lang="en-US" sz="2000" dirty="0">
              <a:solidFill>
                <a:srgbClr val="1F1F1F"/>
              </a:solidFill>
              <a:effectLst/>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SzPts val="1000"/>
              <a:buFont typeface="Arial" panose="020B0604020202020204" pitchFamily="34" charset="0"/>
              <a:buChar char="•"/>
              <a:tabLst>
                <a:tab pos="457200" algn="l"/>
              </a:tabLst>
            </a:pPr>
            <a:r>
              <a:rPr lang="en-US" sz="20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And break down these totals by month with the use of further calculations.</a:t>
            </a:r>
            <a:endParaRPr lang="en-US" sz="2000" dirty="0">
              <a:solidFill>
                <a:srgbClr val="1F1F1F"/>
              </a:solidFill>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help Jamie to complete this worksheet.</a:t>
            </a:r>
            <a:endParaRPr lang="en-US"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65658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357B9B-C9DB-238B-989F-39C59316D8BF}"/>
              </a:ext>
            </a:extLst>
          </p:cNvPr>
          <p:cNvSpPr txBox="1"/>
          <p:nvPr/>
        </p:nvSpPr>
        <p:spPr>
          <a:xfrm>
            <a:off x="1730188" y="1132292"/>
            <a:ext cx="6096000" cy="1477264"/>
          </a:xfrm>
          <a:prstGeom prst="rect">
            <a:avLst/>
          </a:prstGeom>
          <a:noFill/>
        </p:spPr>
        <p:txBody>
          <a:bodyPr wrap="square">
            <a:spAutoFit/>
          </a:bodyPr>
          <a:lstStyle/>
          <a:p>
            <a:pPr>
              <a:lnSpc>
                <a:spcPct val="107000"/>
              </a:lnSpc>
              <a:spcBef>
                <a:spcPts val="200"/>
              </a:spcBef>
            </a:pPr>
            <a:r>
              <a:rPr lang="en-US" sz="3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Step1: Project file</a:t>
            </a:r>
          </a:p>
          <a:p>
            <a:pPr>
              <a:lnSpc>
                <a:spcPct val="107000"/>
              </a:lnSpc>
              <a:spcBef>
                <a:spcPts val="200"/>
              </a:spcBef>
            </a:pPr>
            <a:endParaRPr lang="en-US" sz="3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000" dirty="0">
                <a:effectLst/>
                <a:latin typeface="Arial" panose="020B0604020202020204" pitchFamily="34" charset="0"/>
                <a:ea typeface="Calibri" panose="020F0502020204030204" pitchFamily="34" charset="0"/>
                <a:cs typeface="Arial" panose="020B0604020202020204" pitchFamily="34" charset="0"/>
              </a:rPr>
              <a:t>Use file </a:t>
            </a:r>
            <a:r>
              <a:rPr lang="en-US" sz="2000" b="1" dirty="0">
                <a:effectLst/>
                <a:latin typeface="Arial" panose="020B0604020202020204" pitchFamily="34" charset="0"/>
                <a:ea typeface="Calibri" panose="020F0502020204030204" pitchFamily="34" charset="0"/>
                <a:cs typeface="Arial" panose="020B0604020202020204" pitchFamily="34" charset="0"/>
              </a:rPr>
              <a:t>Final Project.xlsx.</a:t>
            </a:r>
            <a:endParaRPr lang="en-US"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1214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EDB78A-0D78-AFBC-B43F-F2DA1BB9F81E}"/>
              </a:ext>
            </a:extLst>
          </p:cNvPr>
          <p:cNvSpPr txBox="1"/>
          <p:nvPr/>
        </p:nvSpPr>
        <p:spPr>
          <a:xfrm>
            <a:off x="1290918" y="1174544"/>
            <a:ext cx="6096000" cy="519886"/>
          </a:xfrm>
          <a:prstGeom prst="rect">
            <a:avLst/>
          </a:prstGeom>
          <a:noFill/>
        </p:spPr>
        <p:txBody>
          <a:bodyPr wrap="square">
            <a:spAutoFit/>
          </a:bodyPr>
          <a:lstStyle/>
          <a:p>
            <a:pPr>
              <a:lnSpc>
                <a:spcPct val="107000"/>
              </a:lnSpc>
              <a:spcBef>
                <a:spcPts val="200"/>
              </a:spcBef>
            </a:pPr>
            <a:r>
              <a:rPr lang="en-US" sz="28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Step 2: Add and format headings.</a:t>
            </a:r>
          </a:p>
        </p:txBody>
      </p:sp>
    </p:spTree>
    <p:extLst>
      <p:ext uri="{BB962C8B-B14F-4D97-AF65-F5344CB8AC3E}">
        <p14:creationId xmlns:p14="http://schemas.microsoft.com/office/powerpoint/2010/main" val="85173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4F86D6-A34C-7E19-CAA4-B7090D0A8CFC}"/>
              </a:ext>
            </a:extLst>
          </p:cNvPr>
          <p:cNvSpPr txBox="1"/>
          <p:nvPr/>
        </p:nvSpPr>
        <p:spPr>
          <a:xfrm>
            <a:off x="1138516" y="1008095"/>
            <a:ext cx="8113059" cy="954107"/>
          </a:xfrm>
          <a:prstGeom prst="rect">
            <a:avLst/>
          </a:prstGeom>
          <a:noFill/>
        </p:spPr>
        <p:txBody>
          <a:bodyPr wrap="square">
            <a:spAutoFit/>
          </a:bodyPr>
          <a:lstStyle/>
          <a:p>
            <a:r>
              <a:rPr lang="en-US" sz="2800" b="1" dirty="0">
                <a:effectLst/>
                <a:latin typeface="Arial" panose="020B0604020202020204" pitchFamily="34" charset="0"/>
                <a:ea typeface="Calibri" panose="020F0502020204030204" pitchFamily="34" charset="0"/>
              </a:rPr>
              <a:t>Step 3: Customize and reorganize how the data is displayed</a:t>
            </a:r>
            <a:endParaRPr lang="en-US" sz="2800" dirty="0"/>
          </a:p>
        </p:txBody>
      </p:sp>
    </p:spTree>
    <p:extLst>
      <p:ext uri="{BB962C8B-B14F-4D97-AF65-F5344CB8AC3E}">
        <p14:creationId xmlns:p14="http://schemas.microsoft.com/office/powerpoint/2010/main" val="577318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3AD1ED-5104-F93F-3454-710ECB828CE0}"/>
              </a:ext>
            </a:extLst>
          </p:cNvPr>
          <p:cNvSpPr txBox="1"/>
          <p:nvPr/>
        </p:nvSpPr>
        <p:spPr>
          <a:xfrm>
            <a:off x="1299883" y="1228333"/>
            <a:ext cx="9027458" cy="519886"/>
          </a:xfrm>
          <a:prstGeom prst="rect">
            <a:avLst/>
          </a:prstGeom>
          <a:noFill/>
        </p:spPr>
        <p:txBody>
          <a:bodyPr wrap="square">
            <a:spAutoFit/>
          </a:bodyPr>
          <a:lstStyle/>
          <a:p>
            <a:pPr>
              <a:lnSpc>
                <a:spcPct val="107000"/>
              </a:lnSpc>
              <a:spcBef>
                <a:spcPts val="200"/>
              </a:spcBef>
            </a:pPr>
            <a:r>
              <a:rPr lang="en-US" sz="28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Step 4: Use formulas to create new row information</a:t>
            </a:r>
          </a:p>
        </p:txBody>
      </p:sp>
    </p:spTree>
    <p:extLst>
      <p:ext uri="{BB962C8B-B14F-4D97-AF65-F5344CB8AC3E}">
        <p14:creationId xmlns:p14="http://schemas.microsoft.com/office/powerpoint/2010/main" val="979554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5809FB-A9B9-9660-3BA4-60FE9F8E5ABC}"/>
              </a:ext>
            </a:extLst>
          </p:cNvPr>
          <p:cNvSpPr txBox="1"/>
          <p:nvPr/>
        </p:nvSpPr>
        <p:spPr>
          <a:xfrm>
            <a:off x="1434352" y="1438739"/>
            <a:ext cx="9305365" cy="980910"/>
          </a:xfrm>
          <a:prstGeom prst="rect">
            <a:avLst/>
          </a:prstGeom>
          <a:noFill/>
        </p:spPr>
        <p:txBody>
          <a:bodyPr wrap="square">
            <a:spAutoFit/>
          </a:bodyPr>
          <a:lstStyle/>
          <a:p>
            <a:pPr>
              <a:lnSpc>
                <a:spcPct val="107000"/>
              </a:lnSpc>
              <a:spcBef>
                <a:spcPts val="200"/>
              </a:spcBef>
            </a:pPr>
            <a:r>
              <a:rPr lang="en-US" sz="28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Step 5: Create formulas to calculate and compare the profit margin across two years.</a:t>
            </a:r>
          </a:p>
        </p:txBody>
      </p:sp>
    </p:spTree>
    <p:extLst>
      <p:ext uri="{BB962C8B-B14F-4D97-AF65-F5344CB8AC3E}">
        <p14:creationId xmlns:p14="http://schemas.microsoft.com/office/powerpoint/2010/main" val="3763195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122539-7C0F-3757-22FE-832E85F7446F}"/>
              </a:ext>
            </a:extLst>
          </p:cNvPr>
          <p:cNvSpPr txBox="1"/>
          <p:nvPr/>
        </p:nvSpPr>
        <p:spPr>
          <a:xfrm>
            <a:off x="-71717" y="3077942"/>
            <a:ext cx="12263717" cy="702115"/>
          </a:xfrm>
          <a:prstGeom prst="rect">
            <a:avLst/>
          </a:prstGeom>
          <a:noFill/>
        </p:spPr>
        <p:txBody>
          <a:bodyPr wrap="square">
            <a:spAutoFit/>
          </a:bodyPr>
          <a:lstStyle/>
          <a:p>
            <a:pPr algn="ctr">
              <a:lnSpc>
                <a:spcPct val="107000"/>
              </a:lnSpc>
              <a:spcBef>
                <a:spcPts val="200"/>
              </a:spcBef>
            </a:pPr>
            <a:r>
              <a:rPr lang="en-US" sz="4000" b="1" dirty="0">
                <a:effectLst/>
                <a:latin typeface="Arial Nova" panose="020B0504020202020204" pitchFamily="34" charset="0"/>
                <a:ea typeface="Times New Roman" panose="02020603050405020304" pitchFamily="18" charset="0"/>
                <a:cs typeface="Times New Roman" panose="02020603050405020304" pitchFamily="18" charset="0"/>
              </a:rPr>
              <a:t>Final Project Questions</a:t>
            </a:r>
          </a:p>
        </p:txBody>
      </p:sp>
    </p:spTree>
    <p:extLst>
      <p:ext uri="{BB962C8B-B14F-4D97-AF65-F5344CB8AC3E}">
        <p14:creationId xmlns:p14="http://schemas.microsoft.com/office/powerpoint/2010/main" val="2955424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438EC4-15E6-CB75-1D50-81B6436C4C94}"/>
              </a:ext>
            </a:extLst>
          </p:cNvPr>
          <p:cNvSpPr txBox="1"/>
          <p:nvPr/>
        </p:nvSpPr>
        <p:spPr>
          <a:xfrm>
            <a:off x="1255058" y="1386615"/>
            <a:ext cx="9009529" cy="3512372"/>
          </a:xfrm>
          <a:prstGeom prst="rect">
            <a:avLst/>
          </a:prstGeom>
          <a:noFill/>
        </p:spPr>
        <p:txBody>
          <a:bodyPr wrap="square">
            <a:spAutoFit/>
          </a:bodyPr>
          <a:lstStyle/>
          <a:p>
            <a:pPr>
              <a:lnSpc>
                <a:spcPct val="107000"/>
              </a:lnSpc>
              <a:spcBef>
                <a:spcPts val="200"/>
              </a:spcBef>
            </a:pPr>
            <a:r>
              <a:rPr lang="en-US" sz="32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Question 1</a:t>
            </a:r>
            <a:endParaRPr lang="en-US" sz="40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sz="2400" dirty="0">
                <a:solidFill>
                  <a:srgbClr val="333333"/>
                </a:solidFill>
                <a:effectLst/>
                <a:latin typeface="Arial" panose="020B0604020202020204" pitchFamily="34" charset="0"/>
                <a:ea typeface="Times New Roman" panose="02020603050405020304" pitchFamily="18" charset="0"/>
              </a:rPr>
              <a:t>You had to freeze the screen so that the summary data in columns </a:t>
            </a:r>
            <a:r>
              <a:rPr lang="en-US" sz="2400" b="1" dirty="0">
                <a:solidFill>
                  <a:srgbClr val="333333"/>
                </a:solidFill>
                <a:effectLst/>
                <a:latin typeface="unset"/>
                <a:ea typeface="Times New Roman" panose="02020603050405020304" pitchFamily="18" charset="0"/>
                <a:cs typeface="Arial" panose="020B0604020202020204" pitchFamily="34" charset="0"/>
              </a:rPr>
              <a:t>A</a:t>
            </a:r>
            <a:r>
              <a:rPr lang="en-US" sz="2400" dirty="0">
                <a:solidFill>
                  <a:srgbClr val="333333"/>
                </a:solidFill>
                <a:effectLst/>
                <a:latin typeface="Arial" panose="020B0604020202020204" pitchFamily="34" charset="0"/>
                <a:ea typeface="Times New Roman" panose="02020603050405020304" pitchFamily="18" charset="0"/>
              </a:rPr>
              <a:t> to </a:t>
            </a:r>
            <a:r>
              <a:rPr lang="en-US" sz="2400" b="1" dirty="0">
                <a:solidFill>
                  <a:srgbClr val="333333"/>
                </a:solidFill>
                <a:effectLst/>
                <a:latin typeface="unset"/>
                <a:ea typeface="Times New Roman" panose="02020603050405020304" pitchFamily="18" charset="0"/>
                <a:cs typeface="Arial" panose="020B0604020202020204" pitchFamily="34" charset="0"/>
              </a:rPr>
              <a:t>F</a:t>
            </a:r>
            <a:r>
              <a:rPr lang="en-US" sz="2400" dirty="0">
                <a:solidFill>
                  <a:srgbClr val="333333"/>
                </a:solidFill>
                <a:effectLst/>
                <a:latin typeface="Arial" panose="020B0604020202020204" pitchFamily="34" charset="0"/>
                <a:ea typeface="Times New Roman" panose="02020603050405020304" pitchFamily="18" charset="0"/>
              </a:rPr>
              <a:t> and the headings in row </a:t>
            </a:r>
            <a:r>
              <a:rPr lang="en-US" sz="2400" b="1" dirty="0">
                <a:solidFill>
                  <a:srgbClr val="333333"/>
                </a:solidFill>
                <a:effectLst/>
                <a:latin typeface="unset"/>
                <a:ea typeface="Times New Roman" panose="02020603050405020304" pitchFamily="18" charset="0"/>
                <a:cs typeface="Arial" panose="020B0604020202020204" pitchFamily="34" charset="0"/>
              </a:rPr>
              <a:t>1</a:t>
            </a:r>
            <a:r>
              <a:rPr lang="en-US" sz="2400" dirty="0">
                <a:solidFill>
                  <a:srgbClr val="333333"/>
                </a:solidFill>
                <a:effectLst/>
                <a:latin typeface="Arial" panose="020B0604020202020204" pitchFamily="34" charset="0"/>
                <a:ea typeface="Times New Roman" panose="02020603050405020304" pitchFamily="18" charset="0"/>
              </a:rPr>
              <a:t> were always visible. On the </a:t>
            </a:r>
            <a:r>
              <a:rPr lang="en-US" sz="2400" b="1" dirty="0">
                <a:solidFill>
                  <a:srgbClr val="333333"/>
                </a:solidFill>
                <a:effectLst/>
                <a:latin typeface="unset"/>
                <a:ea typeface="Times New Roman" panose="02020603050405020304" pitchFamily="18" charset="0"/>
                <a:cs typeface="Arial" panose="020B0604020202020204" pitchFamily="34" charset="0"/>
              </a:rPr>
              <a:t>Freeze</a:t>
            </a:r>
            <a:r>
              <a:rPr lang="en-US" sz="2400" dirty="0">
                <a:solidFill>
                  <a:srgbClr val="333333"/>
                </a:solidFill>
                <a:effectLst/>
                <a:latin typeface="Arial" panose="020B0604020202020204" pitchFamily="34" charset="0"/>
                <a:ea typeface="Times New Roman" panose="02020603050405020304" pitchFamily="18" charset="0"/>
              </a:rPr>
              <a:t> drop-down options in the </a:t>
            </a:r>
            <a:r>
              <a:rPr lang="en-US" sz="2400" b="1" dirty="0">
                <a:solidFill>
                  <a:srgbClr val="333333"/>
                </a:solidFill>
                <a:effectLst/>
                <a:latin typeface="unset"/>
                <a:ea typeface="Times New Roman" panose="02020603050405020304" pitchFamily="18" charset="0"/>
                <a:cs typeface="Arial" panose="020B0604020202020204" pitchFamily="34" charset="0"/>
              </a:rPr>
              <a:t>View</a:t>
            </a:r>
            <a:r>
              <a:rPr lang="en-US" sz="2400" dirty="0">
                <a:solidFill>
                  <a:srgbClr val="333333"/>
                </a:solidFill>
                <a:effectLst/>
                <a:latin typeface="Arial" panose="020B0604020202020204" pitchFamily="34" charset="0"/>
                <a:ea typeface="Times New Roman" panose="02020603050405020304" pitchFamily="18" charset="0"/>
              </a:rPr>
              <a:t> ribbon, which choice did you make?</a:t>
            </a:r>
          </a:p>
          <a:p>
            <a:pPr lvl="2"/>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Freeze First Column</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Freeze Top Row</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Freeze Panes</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2504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F31E933E-DEAE-A93A-70FA-87B575F1A85B}"/>
              </a:ext>
            </a:extLst>
          </p:cNvPr>
          <p:cNvPicPr>
            <a:picLocks noChangeAspect="1"/>
          </p:cNvPicPr>
          <p:nvPr/>
        </p:nvPicPr>
        <p:blipFill>
          <a:blip r:embed="rId2"/>
          <a:stretch>
            <a:fillRect/>
          </a:stretch>
        </p:blipFill>
        <p:spPr>
          <a:xfrm>
            <a:off x="1389667" y="1195070"/>
            <a:ext cx="9770939" cy="4338464"/>
          </a:xfrm>
          <a:prstGeom prst="rect">
            <a:avLst/>
          </a:prstGeom>
        </p:spPr>
      </p:pic>
      <p:sp>
        <p:nvSpPr>
          <p:cNvPr id="3" name="Rectangle 2">
            <a:extLst>
              <a:ext uri="{FF2B5EF4-FFF2-40B4-BE49-F238E27FC236}">
                <a16:creationId xmlns:a16="http://schemas.microsoft.com/office/drawing/2014/main" id="{E83A51D2-3867-5F92-17FF-9A55AA303C29}"/>
              </a:ext>
            </a:extLst>
          </p:cNvPr>
          <p:cNvSpPr/>
          <p:nvPr/>
        </p:nvSpPr>
        <p:spPr>
          <a:xfrm>
            <a:off x="2028612" y="3389877"/>
            <a:ext cx="1442403" cy="400110"/>
          </a:xfrm>
          <a:prstGeom prst="rect">
            <a:avLst/>
          </a:prstGeom>
          <a:solidFill>
            <a:srgbClr val="F7FBF9"/>
          </a:solid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b="1" cap="none" spc="0" dirty="0">
                <a:ln>
                  <a:solidFill>
                    <a:schemeClr val="accent6"/>
                  </a:solidFill>
                </a:ln>
                <a:solidFill>
                  <a:schemeClr val="accent6">
                    <a:lumMod val="40000"/>
                    <a:lumOff val="60000"/>
                  </a:schemeClr>
                </a:solidFill>
                <a:effectLst/>
              </a:rPr>
              <a:t>Explanation</a:t>
            </a:r>
          </a:p>
        </p:txBody>
      </p:sp>
    </p:spTree>
    <p:extLst>
      <p:ext uri="{BB962C8B-B14F-4D97-AF65-F5344CB8AC3E}">
        <p14:creationId xmlns:p14="http://schemas.microsoft.com/office/powerpoint/2010/main" val="140000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19B57E-5972-4679-EA81-E63042884EC8}"/>
              </a:ext>
            </a:extLst>
          </p:cNvPr>
          <p:cNvSpPr txBox="1"/>
          <p:nvPr/>
        </p:nvSpPr>
        <p:spPr>
          <a:xfrm>
            <a:off x="887505" y="1203107"/>
            <a:ext cx="10139083" cy="3820148"/>
          </a:xfrm>
          <a:prstGeom prst="rect">
            <a:avLst/>
          </a:prstGeom>
          <a:noFill/>
        </p:spPr>
        <p:txBody>
          <a:bodyPr wrap="square">
            <a:spAutoFit/>
          </a:bodyPr>
          <a:lstStyle/>
          <a:p>
            <a:pPr>
              <a:lnSpc>
                <a:spcPct val="107000"/>
              </a:lnSpc>
              <a:spcBef>
                <a:spcPts val="200"/>
              </a:spcBef>
            </a:pPr>
            <a:r>
              <a:rPr lang="en-US" sz="32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Question 2</a:t>
            </a:r>
            <a:endParaRPr lang="en-US" sz="40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sz="2400" dirty="0">
                <a:solidFill>
                  <a:srgbClr val="333333"/>
                </a:solidFill>
                <a:effectLst/>
                <a:latin typeface="Arial" panose="020B0604020202020204" pitchFamily="34" charset="0"/>
                <a:ea typeface="Times New Roman" panose="02020603050405020304" pitchFamily="18" charset="0"/>
              </a:rPr>
              <a:t>You created the following formula in cell </a:t>
            </a:r>
            <a:r>
              <a:rPr lang="en-US" sz="2400" b="1" dirty="0">
                <a:solidFill>
                  <a:srgbClr val="333333"/>
                </a:solidFill>
                <a:effectLst/>
                <a:latin typeface="unset"/>
                <a:ea typeface="Times New Roman" panose="02020603050405020304" pitchFamily="18" charset="0"/>
                <a:cs typeface="Arial" panose="020B0604020202020204" pitchFamily="34" charset="0"/>
              </a:rPr>
              <a:t>B12</a:t>
            </a:r>
            <a:r>
              <a:rPr lang="en-US" sz="2400" dirty="0">
                <a:solidFill>
                  <a:srgbClr val="333333"/>
                </a:solidFill>
                <a:effectLst/>
                <a:latin typeface="Arial" panose="020B0604020202020204" pitchFamily="34" charset="0"/>
                <a:ea typeface="Times New Roman" panose="02020603050405020304" pitchFamily="18" charset="0"/>
              </a:rPr>
              <a:t> to calculate the total sales for January 2022.</a:t>
            </a:r>
            <a:endParaRPr lang="en-US" sz="2000" dirty="0">
              <a:effectLst/>
              <a:latin typeface="Times New Roman" panose="02020603050405020304" pitchFamily="18" charset="0"/>
              <a:ea typeface="Times New Roman" panose="02020603050405020304" pitchFamily="18" charset="0"/>
            </a:endParaRPr>
          </a:p>
          <a:p>
            <a:r>
              <a:rPr lang="en-US" sz="2000" b="1" i="1" dirty="0">
                <a:solidFill>
                  <a:srgbClr val="333333"/>
                </a:solidFill>
                <a:effectLst/>
                <a:latin typeface="Courier"/>
                <a:ea typeface="Times New Roman" panose="02020603050405020304" pitchFamily="18" charset="0"/>
                <a:cs typeface="Arial" panose="020B0604020202020204" pitchFamily="34" charset="0"/>
              </a:rPr>
              <a:t>=SUMIF(K2:K103,1,R2:R103)</a:t>
            </a:r>
            <a:endParaRPr lang="en-US" sz="2000" dirty="0">
              <a:effectLst/>
              <a:latin typeface="Times New Roman" panose="02020603050405020304" pitchFamily="18" charset="0"/>
              <a:ea typeface="Times New Roman" panose="02020603050405020304" pitchFamily="18" charset="0"/>
            </a:endParaRPr>
          </a:p>
          <a:p>
            <a:r>
              <a:rPr lang="en-US" sz="2400" dirty="0">
                <a:solidFill>
                  <a:srgbClr val="333333"/>
                </a:solidFill>
                <a:effectLst/>
                <a:latin typeface="Arial" panose="020B0604020202020204" pitchFamily="34" charset="0"/>
                <a:ea typeface="Times New Roman" panose="02020603050405020304" pitchFamily="18" charset="0"/>
              </a:rPr>
              <a:t>Before copying this formula down to cells </a:t>
            </a:r>
            <a:r>
              <a:rPr lang="en-US" sz="2400" b="1" dirty="0">
                <a:solidFill>
                  <a:srgbClr val="333333"/>
                </a:solidFill>
                <a:effectLst/>
                <a:latin typeface="unset"/>
                <a:ea typeface="Times New Roman" panose="02020603050405020304" pitchFamily="18" charset="0"/>
                <a:cs typeface="Arial" panose="020B0604020202020204" pitchFamily="34" charset="0"/>
              </a:rPr>
              <a:t>B13</a:t>
            </a:r>
            <a:r>
              <a:rPr lang="en-US" sz="2400" dirty="0">
                <a:solidFill>
                  <a:srgbClr val="333333"/>
                </a:solidFill>
                <a:effectLst/>
                <a:latin typeface="Arial" panose="020B0604020202020204" pitchFamily="34" charset="0"/>
                <a:ea typeface="Times New Roman" panose="02020603050405020304" pitchFamily="18" charset="0"/>
              </a:rPr>
              <a:t> and </a:t>
            </a:r>
            <a:r>
              <a:rPr lang="en-US" sz="2400" b="1" dirty="0">
                <a:solidFill>
                  <a:srgbClr val="333333"/>
                </a:solidFill>
                <a:effectLst/>
                <a:latin typeface="unset"/>
                <a:ea typeface="Times New Roman" panose="02020603050405020304" pitchFamily="18" charset="0"/>
                <a:cs typeface="Arial" panose="020B0604020202020204" pitchFamily="34" charset="0"/>
              </a:rPr>
              <a:t>B14,</a:t>
            </a:r>
            <a:r>
              <a:rPr lang="en-US" sz="2400" dirty="0">
                <a:solidFill>
                  <a:srgbClr val="333333"/>
                </a:solidFill>
                <a:effectLst/>
                <a:latin typeface="Arial" panose="020B0604020202020204" pitchFamily="34" charset="0"/>
                <a:ea typeface="Times New Roman" panose="02020603050405020304" pitchFamily="18" charset="0"/>
              </a:rPr>
              <a:t> which references did you need to add dollar signs to?</a:t>
            </a:r>
          </a:p>
          <a:p>
            <a:pPr lvl="2"/>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b="1" dirty="0">
                <a:solidFill>
                  <a:srgbClr val="333333"/>
                </a:solidFill>
                <a:effectLst/>
                <a:latin typeface="unset"/>
                <a:ea typeface="Times New Roman" panose="02020603050405020304" pitchFamily="18" charset="0"/>
                <a:cs typeface="Arial" panose="020B0604020202020204" pitchFamily="34" charset="0"/>
              </a:rPr>
              <a:t>R2:R103</a:t>
            </a:r>
            <a:r>
              <a:rPr lang="en-US" sz="2400" dirty="0">
                <a:solidFill>
                  <a:srgbClr val="333333"/>
                </a:solidFill>
                <a:effectLst/>
                <a:latin typeface="Arial" panose="020B0604020202020204" pitchFamily="34" charset="0"/>
                <a:ea typeface="Times New Roman" panose="02020603050405020304" pitchFamily="18" charset="0"/>
              </a:rPr>
              <a:t> only</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b="1" dirty="0">
                <a:solidFill>
                  <a:srgbClr val="333333"/>
                </a:solidFill>
                <a:effectLst/>
                <a:latin typeface="unset"/>
                <a:ea typeface="Times New Roman" panose="02020603050405020304" pitchFamily="18" charset="0"/>
                <a:cs typeface="Arial" panose="020B0604020202020204" pitchFamily="34" charset="0"/>
              </a:rPr>
              <a:t>K2:K103</a:t>
            </a:r>
            <a:r>
              <a:rPr lang="en-US" sz="2400" dirty="0">
                <a:solidFill>
                  <a:srgbClr val="333333"/>
                </a:solidFill>
                <a:effectLst/>
                <a:latin typeface="Arial" panose="020B0604020202020204" pitchFamily="34" charset="0"/>
                <a:ea typeface="Times New Roman" panose="02020603050405020304" pitchFamily="18" charset="0"/>
              </a:rPr>
              <a:t> only</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b="1" dirty="0">
                <a:solidFill>
                  <a:srgbClr val="333333"/>
                </a:solidFill>
                <a:effectLst/>
                <a:latin typeface="unset"/>
                <a:ea typeface="Times New Roman" panose="02020603050405020304" pitchFamily="18" charset="0"/>
                <a:cs typeface="Arial" panose="020B0604020202020204" pitchFamily="34" charset="0"/>
              </a:rPr>
              <a:t>K2:K103 </a:t>
            </a:r>
            <a:r>
              <a:rPr lang="en-US" sz="2400" dirty="0">
                <a:solidFill>
                  <a:srgbClr val="333333"/>
                </a:solidFill>
                <a:effectLst/>
                <a:latin typeface="Arial" panose="020B0604020202020204" pitchFamily="34" charset="0"/>
                <a:ea typeface="Times New Roman" panose="02020603050405020304" pitchFamily="18" charset="0"/>
              </a:rPr>
              <a:t>and </a:t>
            </a:r>
            <a:r>
              <a:rPr lang="en-US" sz="2400" b="1" dirty="0">
                <a:solidFill>
                  <a:srgbClr val="333333"/>
                </a:solidFill>
                <a:effectLst/>
                <a:latin typeface="unset"/>
                <a:ea typeface="Times New Roman" panose="02020603050405020304" pitchFamily="18" charset="0"/>
                <a:cs typeface="Arial" panose="020B0604020202020204" pitchFamily="34" charset="0"/>
              </a:rPr>
              <a:t>R2:R103</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47105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ell phone&#10;&#10;Description automatically generated">
            <a:extLst>
              <a:ext uri="{FF2B5EF4-FFF2-40B4-BE49-F238E27FC236}">
                <a16:creationId xmlns:a16="http://schemas.microsoft.com/office/drawing/2014/main" id="{DCDA4368-1F11-FDC4-8CD5-4BB8BB4D934E}"/>
              </a:ext>
            </a:extLst>
          </p:cNvPr>
          <p:cNvPicPr>
            <a:picLocks noChangeAspect="1"/>
          </p:cNvPicPr>
          <p:nvPr/>
        </p:nvPicPr>
        <p:blipFill>
          <a:blip r:embed="rId2"/>
          <a:stretch>
            <a:fillRect/>
          </a:stretch>
        </p:blipFill>
        <p:spPr>
          <a:xfrm>
            <a:off x="818617" y="1098186"/>
            <a:ext cx="10554765" cy="4454201"/>
          </a:xfrm>
          <a:prstGeom prst="rect">
            <a:avLst/>
          </a:prstGeom>
        </p:spPr>
      </p:pic>
      <p:sp>
        <p:nvSpPr>
          <p:cNvPr id="3" name="Rectangle 2">
            <a:extLst>
              <a:ext uri="{FF2B5EF4-FFF2-40B4-BE49-F238E27FC236}">
                <a16:creationId xmlns:a16="http://schemas.microsoft.com/office/drawing/2014/main" id="{5CD7D4A5-9313-B596-84AC-4F7AFB872786}"/>
              </a:ext>
            </a:extLst>
          </p:cNvPr>
          <p:cNvSpPr/>
          <p:nvPr/>
        </p:nvSpPr>
        <p:spPr>
          <a:xfrm>
            <a:off x="1454870" y="4322208"/>
            <a:ext cx="1442403" cy="400110"/>
          </a:xfrm>
          <a:prstGeom prst="rect">
            <a:avLst/>
          </a:prstGeom>
          <a:solidFill>
            <a:srgbClr val="F7FBF9"/>
          </a:solid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b="1" cap="none" spc="0" dirty="0">
                <a:ln>
                  <a:solidFill>
                    <a:schemeClr val="accent6"/>
                  </a:solidFill>
                </a:ln>
                <a:solidFill>
                  <a:schemeClr val="accent6">
                    <a:lumMod val="40000"/>
                    <a:lumOff val="60000"/>
                  </a:schemeClr>
                </a:solidFill>
                <a:effectLst/>
              </a:rPr>
              <a:t>Explanation</a:t>
            </a:r>
          </a:p>
        </p:txBody>
      </p:sp>
    </p:spTree>
    <p:extLst>
      <p:ext uri="{BB962C8B-B14F-4D97-AF65-F5344CB8AC3E}">
        <p14:creationId xmlns:p14="http://schemas.microsoft.com/office/powerpoint/2010/main" val="21851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DC3A1B-9E38-513E-6427-8156DA5B5D6B}"/>
              </a:ext>
            </a:extLst>
          </p:cNvPr>
          <p:cNvSpPr txBox="1"/>
          <p:nvPr/>
        </p:nvSpPr>
        <p:spPr>
          <a:xfrm>
            <a:off x="802341" y="1556614"/>
            <a:ext cx="10587318" cy="3327706"/>
          </a:xfrm>
          <a:prstGeom prst="rect">
            <a:avLst/>
          </a:prstGeom>
          <a:noFill/>
        </p:spPr>
        <p:txBody>
          <a:bodyPr wrap="square">
            <a:spAutoFit/>
          </a:bodyPr>
          <a:lstStyle/>
          <a:p>
            <a:pPr>
              <a:lnSpc>
                <a:spcPct val="107000"/>
              </a:lnSpc>
              <a:spcBef>
                <a:spcPts val="200"/>
              </a:spcBef>
            </a:pPr>
            <a:r>
              <a:rPr lang="en-US" sz="32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Question 3</a:t>
            </a:r>
            <a:endParaRPr lang="en-US" sz="40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sz="2400" dirty="0">
                <a:solidFill>
                  <a:srgbClr val="333333"/>
                </a:solidFill>
                <a:effectLst/>
                <a:latin typeface="Arial" panose="020B0604020202020204" pitchFamily="34" charset="0"/>
                <a:ea typeface="Times New Roman" panose="02020603050405020304" pitchFamily="18" charset="0"/>
              </a:rPr>
              <a:t>In cell </a:t>
            </a:r>
            <a:r>
              <a:rPr lang="en-US" sz="2400" b="1" dirty="0">
                <a:solidFill>
                  <a:srgbClr val="333333"/>
                </a:solidFill>
                <a:effectLst/>
                <a:latin typeface="unset"/>
                <a:ea typeface="Times New Roman" panose="02020603050405020304" pitchFamily="18" charset="0"/>
                <a:cs typeface="Arial" panose="020B0604020202020204" pitchFamily="34" charset="0"/>
              </a:rPr>
              <a:t>D6, </a:t>
            </a:r>
            <a:r>
              <a:rPr lang="en-US" sz="2400" dirty="0">
                <a:solidFill>
                  <a:srgbClr val="333333"/>
                </a:solidFill>
                <a:effectLst/>
                <a:latin typeface="Arial" panose="020B0604020202020204" pitchFamily="34" charset="0"/>
                <a:ea typeface="Times New Roman" panose="02020603050405020304" pitchFamily="18" charset="0"/>
              </a:rPr>
              <a:t>you created a formula to work out the percentage difference between the 2022 quarter-one sales and the 2023 quarter-one sales. Which of the following describes the logic of how this calculation should be designed?</a:t>
            </a:r>
          </a:p>
          <a:p>
            <a:pPr lvl="2"/>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000" b="1" i="1" dirty="0">
                <a:solidFill>
                  <a:srgbClr val="333333"/>
                </a:solidFill>
                <a:effectLst/>
                <a:latin typeface="Courier"/>
                <a:ea typeface="Times New Roman" panose="02020603050405020304" pitchFamily="18" charset="0"/>
                <a:cs typeface="Arial" panose="020B0604020202020204" pitchFamily="34" charset="0"/>
              </a:rPr>
              <a:t>(2023 total – 2022 total)/2023</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000" b="1" i="1" dirty="0">
                <a:solidFill>
                  <a:srgbClr val="333333"/>
                </a:solidFill>
                <a:effectLst/>
                <a:latin typeface="Courier"/>
                <a:ea typeface="Times New Roman" panose="02020603050405020304" pitchFamily="18" charset="0"/>
                <a:cs typeface="Arial" panose="020B0604020202020204" pitchFamily="34" charset="0"/>
              </a:rPr>
              <a:t>(2022 total – 2023 total)/2022 total</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000" b="1" i="1" dirty="0">
                <a:solidFill>
                  <a:srgbClr val="333333"/>
                </a:solidFill>
                <a:effectLst/>
                <a:latin typeface="Courier"/>
                <a:ea typeface="Times New Roman" panose="02020603050405020304" pitchFamily="18" charset="0"/>
                <a:cs typeface="Arial" panose="020B0604020202020204" pitchFamily="34" charset="0"/>
              </a:rPr>
              <a:t>(2023 total-2022 total)/2022 total</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70444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5E3A64F4-598A-E949-36EB-B2EAC0A46468}"/>
              </a:ext>
            </a:extLst>
          </p:cNvPr>
          <p:cNvPicPr>
            <a:picLocks noChangeAspect="1"/>
          </p:cNvPicPr>
          <p:nvPr/>
        </p:nvPicPr>
        <p:blipFill>
          <a:blip r:embed="rId2"/>
          <a:stretch>
            <a:fillRect/>
          </a:stretch>
        </p:blipFill>
        <p:spPr>
          <a:xfrm>
            <a:off x="956035" y="1417812"/>
            <a:ext cx="10558239" cy="3729224"/>
          </a:xfrm>
          <a:prstGeom prst="rect">
            <a:avLst/>
          </a:prstGeom>
        </p:spPr>
      </p:pic>
      <p:sp>
        <p:nvSpPr>
          <p:cNvPr id="3" name="Rectangle 2">
            <a:extLst>
              <a:ext uri="{FF2B5EF4-FFF2-40B4-BE49-F238E27FC236}">
                <a16:creationId xmlns:a16="http://schemas.microsoft.com/office/drawing/2014/main" id="{ECF744E6-E611-353E-C55E-C6A57B75D487}"/>
              </a:ext>
            </a:extLst>
          </p:cNvPr>
          <p:cNvSpPr/>
          <p:nvPr/>
        </p:nvSpPr>
        <p:spPr>
          <a:xfrm>
            <a:off x="1544517" y="3990516"/>
            <a:ext cx="1442403" cy="400110"/>
          </a:xfrm>
          <a:prstGeom prst="rect">
            <a:avLst/>
          </a:prstGeom>
          <a:solidFill>
            <a:srgbClr val="F7FBF9"/>
          </a:solid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b="1" cap="none" spc="0" dirty="0">
                <a:ln>
                  <a:solidFill>
                    <a:schemeClr val="accent6"/>
                  </a:solidFill>
                </a:ln>
                <a:solidFill>
                  <a:schemeClr val="accent6">
                    <a:lumMod val="40000"/>
                    <a:lumOff val="60000"/>
                  </a:schemeClr>
                </a:solidFill>
                <a:effectLst/>
              </a:rPr>
              <a:t>Explanation</a:t>
            </a:r>
          </a:p>
        </p:txBody>
      </p:sp>
    </p:spTree>
    <p:extLst>
      <p:ext uri="{BB962C8B-B14F-4D97-AF65-F5344CB8AC3E}">
        <p14:creationId xmlns:p14="http://schemas.microsoft.com/office/powerpoint/2010/main" val="55386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CF7BC9-93E7-F147-58DF-0AE73013745D}"/>
              </a:ext>
            </a:extLst>
          </p:cNvPr>
          <p:cNvSpPr txBox="1"/>
          <p:nvPr/>
        </p:nvSpPr>
        <p:spPr>
          <a:xfrm>
            <a:off x="833717" y="1449368"/>
            <a:ext cx="10246659" cy="3143040"/>
          </a:xfrm>
          <a:prstGeom prst="rect">
            <a:avLst/>
          </a:prstGeom>
          <a:noFill/>
        </p:spPr>
        <p:txBody>
          <a:bodyPr wrap="square">
            <a:spAutoFit/>
          </a:bodyPr>
          <a:lstStyle/>
          <a:p>
            <a:pPr>
              <a:lnSpc>
                <a:spcPct val="107000"/>
              </a:lnSpc>
              <a:spcBef>
                <a:spcPts val="200"/>
              </a:spcBef>
            </a:pPr>
            <a:r>
              <a:rPr lang="en-US" sz="32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Question 4</a:t>
            </a:r>
            <a:endParaRPr lang="en-US" sz="40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sz="2400" dirty="0">
                <a:solidFill>
                  <a:srgbClr val="333333"/>
                </a:solidFill>
                <a:effectLst/>
                <a:latin typeface="Arial" panose="020B0604020202020204" pitchFamily="34" charset="0"/>
                <a:ea typeface="Times New Roman" panose="02020603050405020304" pitchFamily="18" charset="0"/>
              </a:rPr>
              <a:t>In cell </a:t>
            </a:r>
            <a:r>
              <a:rPr lang="en-US" sz="2400" b="1" dirty="0">
                <a:solidFill>
                  <a:srgbClr val="333333"/>
                </a:solidFill>
                <a:effectLst/>
                <a:latin typeface="unset"/>
                <a:ea typeface="Times New Roman" panose="02020603050405020304" pitchFamily="18" charset="0"/>
                <a:cs typeface="Arial" panose="020B0604020202020204" pitchFamily="34" charset="0"/>
              </a:rPr>
              <a:t>C12</a:t>
            </a:r>
            <a:r>
              <a:rPr lang="en-US" sz="2400" dirty="0">
                <a:solidFill>
                  <a:srgbClr val="333333"/>
                </a:solidFill>
                <a:effectLst/>
                <a:latin typeface="Arial" panose="020B0604020202020204" pitchFamily="34" charset="0"/>
                <a:ea typeface="Times New Roman" panose="02020603050405020304" pitchFamily="18" charset="0"/>
              </a:rPr>
              <a:t> you used </a:t>
            </a:r>
            <a:r>
              <a:rPr lang="en-US" sz="2400" b="1" dirty="0">
                <a:solidFill>
                  <a:srgbClr val="333333"/>
                </a:solidFill>
                <a:effectLst/>
                <a:latin typeface="unset"/>
                <a:ea typeface="Times New Roman" panose="02020603050405020304" pitchFamily="18" charset="0"/>
                <a:cs typeface="Arial" panose="020B0604020202020204" pitchFamily="34" charset="0"/>
              </a:rPr>
              <a:t>SUMIF</a:t>
            </a:r>
            <a:r>
              <a:rPr lang="en-US" sz="2400" dirty="0">
                <a:solidFill>
                  <a:srgbClr val="333333"/>
                </a:solidFill>
                <a:effectLst/>
                <a:latin typeface="Arial" panose="020B0604020202020204" pitchFamily="34" charset="0"/>
                <a:ea typeface="Times New Roman" panose="02020603050405020304" pitchFamily="18" charset="0"/>
              </a:rPr>
              <a:t> to calculate the total sales for January 2023 and then copied that formula down to cells </a:t>
            </a:r>
            <a:r>
              <a:rPr lang="en-US" sz="2400" b="1" dirty="0">
                <a:solidFill>
                  <a:srgbClr val="333333"/>
                </a:solidFill>
                <a:effectLst/>
                <a:latin typeface="unset"/>
                <a:ea typeface="Times New Roman" panose="02020603050405020304" pitchFamily="18" charset="0"/>
                <a:cs typeface="Arial" panose="020B0604020202020204" pitchFamily="34" charset="0"/>
              </a:rPr>
              <a:t>C13</a:t>
            </a:r>
            <a:r>
              <a:rPr lang="en-US" sz="2400" dirty="0">
                <a:solidFill>
                  <a:srgbClr val="333333"/>
                </a:solidFill>
                <a:effectLst/>
                <a:latin typeface="Arial" panose="020B0604020202020204" pitchFamily="34" charset="0"/>
                <a:ea typeface="Times New Roman" panose="02020603050405020304" pitchFamily="18" charset="0"/>
              </a:rPr>
              <a:t> and </a:t>
            </a:r>
            <a:r>
              <a:rPr lang="en-US" sz="2400" b="1" dirty="0">
                <a:solidFill>
                  <a:srgbClr val="333333"/>
                </a:solidFill>
                <a:effectLst/>
                <a:latin typeface="unset"/>
                <a:ea typeface="Times New Roman" panose="02020603050405020304" pitchFamily="18" charset="0"/>
                <a:cs typeface="Arial" panose="020B0604020202020204" pitchFamily="34" charset="0"/>
              </a:rPr>
              <a:t>C14</a:t>
            </a:r>
            <a:r>
              <a:rPr lang="en-US" sz="2400" dirty="0">
                <a:solidFill>
                  <a:srgbClr val="333333"/>
                </a:solidFill>
                <a:effectLst/>
                <a:latin typeface="Arial" panose="020B0604020202020204" pitchFamily="34" charset="0"/>
                <a:ea typeface="Times New Roman" panose="02020603050405020304" pitchFamily="18" charset="0"/>
              </a:rPr>
              <a:t>. When you completed the exercise, what result was generated in </a:t>
            </a:r>
            <a:r>
              <a:rPr lang="en-US" sz="2400" b="1" dirty="0">
                <a:solidFill>
                  <a:srgbClr val="333333"/>
                </a:solidFill>
                <a:effectLst/>
                <a:latin typeface="unset"/>
                <a:ea typeface="Times New Roman" panose="02020603050405020304" pitchFamily="18" charset="0"/>
                <a:cs typeface="Arial" panose="020B0604020202020204" pitchFamily="34" charset="0"/>
              </a:rPr>
              <a:t>C14</a:t>
            </a:r>
            <a:r>
              <a:rPr lang="en-US" sz="2400" dirty="0">
                <a:solidFill>
                  <a:srgbClr val="333333"/>
                </a:solidFill>
                <a:effectLst/>
                <a:latin typeface="Arial" panose="020B0604020202020204" pitchFamily="34" charset="0"/>
                <a:ea typeface="Times New Roman" panose="02020603050405020304" pitchFamily="18" charset="0"/>
              </a:rPr>
              <a:t>?</a:t>
            </a:r>
          </a:p>
          <a:p>
            <a:pPr lvl="2"/>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$164,740</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$143,555</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$145,535</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68742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FDC4243B-35A2-1514-CFDB-3FCE1DAB5B3F}"/>
              </a:ext>
            </a:extLst>
          </p:cNvPr>
          <p:cNvPicPr>
            <a:picLocks noChangeAspect="1"/>
          </p:cNvPicPr>
          <p:nvPr/>
        </p:nvPicPr>
        <p:blipFill>
          <a:blip r:embed="rId2"/>
          <a:stretch>
            <a:fillRect/>
          </a:stretch>
        </p:blipFill>
        <p:spPr>
          <a:xfrm>
            <a:off x="1024340" y="1241072"/>
            <a:ext cx="10143319" cy="4103926"/>
          </a:xfrm>
          <a:prstGeom prst="rect">
            <a:avLst/>
          </a:prstGeom>
        </p:spPr>
      </p:pic>
      <p:sp>
        <p:nvSpPr>
          <p:cNvPr id="3" name="Rectangle 2">
            <a:extLst>
              <a:ext uri="{FF2B5EF4-FFF2-40B4-BE49-F238E27FC236}">
                <a16:creationId xmlns:a16="http://schemas.microsoft.com/office/drawing/2014/main" id="{6757606A-6044-CB93-386C-688F4DCEDB43}"/>
              </a:ext>
            </a:extLst>
          </p:cNvPr>
          <p:cNvSpPr/>
          <p:nvPr/>
        </p:nvSpPr>
        <p:spPr>
          <a:xfrm>
            <a:off x="1580376" y="3631927"/>
            <a:ext cx="1442403" cy="400110"/>
          </a:xfrm>
          <a:prstGeom prst="rect">
            <a:avLst/>
          </a:prstGeom>
          <a:solidFill>
            <a:srgbClr val="F7FBF9"/>
          </a:solid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b="1" cap="none" spc="0" dirty="0">
                <a:ln>
                  <a:solidFill>
                    <a:schemeClr val="accent6"/>
                  </a:solidFill>
                </a:ln>
                <a:solidFill>
                  <a:schemeClr val="accent6">
                    <a:lumMod val="40000"/>
                    <a:lumOff val="60000"/>
                  </a:schemeClr>
                </a:solidFill>
                <a:effectLst/>
              </a:rPr>
              <a:t>Explanation</a:t>
            </a:r>
          </a:p>
        </p:txBody>
      </p:sp>
    </p:spTree>
    <p:extLst>
      <p:ext uri="{BB962C8B-B14F-4D97-AF65-F5344CB8AC3E}">
        <p14:creationId xmlns:p14="http://schemas.microsoft.com/office/powerpoint/2010/main" val="3189691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D868CB-39BC-5774-E7F9-5C6EA91424D8}"/>
              </a:ext>
            </a:extLst>
          </p:cNvPr>
          <p:cNvSpPr txBox="1"/>
          <p:nvPr/>
        </p:nvSpPr>
        <p:spPr>
          <a:xfrm>
            <a:off x="824753" y="835880"/>
            <a:ext cx="9986683" cy="4989699"/>
          </a:xfrm>
          <a:prstGeom prst="rect">
            <a:avLst/>
          </a:prstGeom>
          <a:noFill/>
        </p:spPr>
        <p:txBody>
          <a:bodyPr wrap="square">
            <a:spAutoFit/>
          </a:bodyPr>
          <a:lstStyle/>
          <a:p>
            <a:pPr>
              <a:lnSpc>
                <a:spcPct val="107000"/>
              </a:lnSpc>
              <a:spcBef>
                <a:spcPts val="200"/>
              </a:spcBef>
            </a:pPr>
            <a:r>
              <a:rPr lang="en-US" sz="32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Question 5</a:t>
            </a:r>
            <a:endParaRPr lang="en-US" sz="40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sz="2400" dirty="0">
                <a:solidFill>
                  <a:srgbClr val="333333"/>
                </a:solidFill>
                <a:effectLst/>
                <a:latin typeface="Arial" panose="020B0604020202020204" pitchFamily="34" charset="0"/>
                <a:ea typeface="Times New Roman" panose="02020603050405020304" pitchFamily="18" charset="0"/>
              </a:rPr>
              <a:t>The headings you added in rows </a:t>
            </a:r>
            <a:r>
              <a:rPr lang="en-US" sz="2400" b="1" dirty="0">
                <a:solidFill>
                  <a:srgbClr val="333333"/>
                </a:solidFill>
                <a:effectLst/>
                <a:latin typeface="unset"/>
                <a:ea typeface="Times New Roman" panose="02020603050405020304" pitchFamily="18" charset="0"/>
                <a:cs typeface="Arial" panose="020B0604020202020204" pitchFamily="34" charset="0"/>
              </a:rPr>
              <a:t>4 </a:t>
            </a:r>
            <a:r>
              <a:rPr lang="en-US" sz="2400" dirty="0">
                <a:solidFill>
                  <a:srgbClr val="333333"/>
                </a:solidFill>
                <a:effectLst/>
                <a:latin typeface="Arial" panose="020B0604020202020204" pitchFamily="34" charset="0"/>
                <a:ea typeface="Times New Roman" panose="02020603050405020304" pitchFamily="18" charset="0"/>
              </a:rPr>
              <a:t>and </a:t>
            </a:r>
            <a:r>
              <a:rPr lang="en-US" sz="2400" b="1" dirty="0">
                <a:solidFill>
                  <a:srgbClr val="333333"/>
                </a:solidFill>
                <a:effectLst/>
                <a:latin typeface="unset"/>
                <a:ea typeface="Times New Roman" panose="02020603050405020304" pitchFamily="18" charset="0"/>
                <a:cs typeface="Arial" panose="020B0604020202020204" pitchFamily="34" charset="0"/>
              </a:rPr>
              <a:t>10 </a:t>
            </a:r>
            <a:r>
              <a:rPr lang="en-US" sz="2400" dirty="0">
                <a:solidFill>
                  <a:srgbClr val="333333"/>
                </a:solidFill>
                <a:effectLst/>
                <a:latin typeface="Arial" panose="020B0604020202020204" pitchFamily="34" charset="0"/>
                <a:ea typeface="Times New Roman" panose="02020603050405020304" pitchFamily="18" charset="0"/>
              </a:rPr>
              <a:t>had to be centered across the tables of information that they related to by using the </a:t>
            </a:r>
            <a:r>
              <a:rPr lang="en-US" sz="2400" b="1" dirty="0">
                <a:solidFill>
                  <a:srgbClr val="333333"/>
                </a:solidFill>
                <a:effectLst/>
                <a:latin typeface="unset"/>
                <a:ea typeface="Times New Roman" panose="02020603050405020304" pitchFamily="18" charset="0"/>
                <a:cs typeface="Arial" panose="020B0604020202020204" pitchFamily="34" charset="0"/>
              </a:rPr>
              <a:t>Merge &amp; Center </a:t>
            </a:r>
            <a:r>
              <a:rPr lang="en-US" sz="2400" dirty="0">
                <a:solidFill>
                  <a:srgbClr val="333333"/>
                </a:solidFill>
                <a:effectLst/>
                <a:latin typeface="Arial" panose="020B0604020202020204" pitchFamily="34" charset="0"/>
                <a:ea typeface="Times New Roman" panose="02020603050405020304" pitchFamily="18" charset="0"/>
              </a:rPr>
              <a:t>choice on the </a:t>
            </a:r>
            <a:r>
              <a:rPr lang="en-US" sz="2400" b="1" dirty="0">
                <a:solidFill>
                  <a:srgbClr val="333333"/>
                </a:solidFill>
                <a:effectLst/>
                <a:latin typeface="unset"/>
                <a:ea typeface="Times New Roman" panose="02020603050405020304" pitchFamily="18" charset="0"/>
                <a:cs typeface="Arial" panose="020B0604020202020204" pitchFamily="34" charset="0"/>
              </a:rPr>
              <a:t>Home </a:t>
            </a:r>
            <a:r>
              <a:rPr lang="en-US" sz="2400" dirty="0">
                <a:solidFill>
                  <a:srgbClr val="333333"/>
                </a:solidFill>
                <a:effectLst/>
                <a:latin typeface="Arial" panose="020B0604020202020204" pitchFamily="34" charset="0"/>
                <a:ea typeface="Times New Roman" panose="02020603050405020304" pitchFamily="18" charset="0"/>
              </a:rPr>
              <a:t>ribbon. Before selecting the </a:t>
            </a:r>
            <a:r>
              <a:rPr lang="en-US" sz="2400" b="1" dirty="0">
                <a:solidFill>
                  <a:srgbClr val="333333"/>
                </a:solidFill>
                <a:effectLst/>
                <a:latin typeface="unset"/>
                <a:ea typeface="Times New Roman" panose="02020603050405020304" pitchFamily="18" charset="0"/>
                <a:cs typeface="Arial" panose="020B0604020202020204" pitchFamily="34" charset="0"/>
              </a:rPr>
              <a:t>Merge &amp; Center</a:t>
            </a:r>
            <a:r>
              <a:rPr lang="en-US" sz="2400" dirty="0">
                <a:solidFill>
                  <a:srgbClr val="333333"/>
                </a:solidFill>
                <a:effectLst/>
                <a:latin typeface="Arial" panose="020B0604020202020204" pitchFamily="34" charset="0"/>
                <a:ea typeface="Times New Roman" panose="02020603050405020304" pitchFamily="18" charset="0"/>
              </a:rPr>
              <a:t> button you typed the heading and then highlighted the cell range that the heading had to be centered in. Where should you type the heading before selecting </a:t>
            </a:r>
            <a:r>
              <a:rPr lang="en-US" sz="2400" b="1" dirty="0">
                <a:solidFill>
                  <a:srgbClr val="333333"/>
                </a:solidFill>
                <a:effectLst/>
                <a:latin typeface="unset"/>
                <a:ea typeface="Times New Roman" panose="02020603050405020304" pitchFamily="18" charset="0"/>
                <a:cs typeface="Arial" panose="020B0604020202020204" pitchFamily="34" charset="0"/>
              </a:rPr>
              <a:t>Merge &amp; center?</a:t>
            </a:r>
          </a:p>
          <a:p>
            <a:pPr lvl="2"/>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In the middle of the cell range the heading is to be centered in. </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On the left edge of the cell range the heading is to be centered in.</a:t>
            </a:r>
            <a:endParaRPr lang="en-US" sz="2000" dirty="0">
              <a:effectLst/>
              <a:latin typeface="Times New Roman" panose="02020603050405020304" pitchFamily="18" charset="0"/>
              <a:ea typeface="Times New Roman" panose="02020603050405020304" pitchFamily="18" charset="0"/>
            </a:endParaRPr>
          </a:p>
          <a:p>
            <a:pPr marL="1257300" lvl="2" indent="-342900">
              <a:buFont typeface="+mj-lt"/>
              <a:buAutoNum type="alphaUcPeriod"/>
            </a:pPr>
            <a:r>
              <a:rPr lang="en-US" sz="2400" dirty="0">
                <a:solidFill>
                  <a:srgbClr val="333333"/>
                </a:solidFill>
                <a:effectLst/>
                <a:latin typeface="Arial" panose="020B0604020202020204" pitchFamily="34" charset="0"/>
                <a:ea typeface="Times New Roman" panose="02020603050405020304" pitchFamily="18" charset="0"/>
              </a:rPr>
              <a:t>On the right edge of the cell range the heading is to be centered in.  </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0609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ell phone&#10;&#10;Description automatically generated">
            <a:extLst>
              <a:ext uri="{FF2B5EF4-FFF2-40B4-BE49-F238E27FC236}">
                <a16:creationId xmlns:a16="http://schemas.microsoft.com/office/drawing/2014/main" id="{98C77014-9BAF-7426-FD9D-C1D58B693509}"/>
              </a:ext>
            </a:extLst>
          </p:cNvPr>
          <p:cNvPicPr>
            <a:picLocks noChangeAspect="1"/>
          </p:cNvPicPr>
          <p:nvPr/>
        </p:nvPicPr>
        <p:blipFill>
          <a:blip r:embed="rId2"/>
          <a:stretch>
            <a:fillRect/>
          </a:stretch>
        </p:blipFill>
        <p:spPr>
          <a:xfrm>
            <a:off x="1196788" y="994204"/>
            <a:ext cx="10100296" cy="4954109"/>
          </a:xfrm>
          <a:prstGeom prst="rect">
            <a:avLst/>
          </a:prstGeom>
        </p:spPr>
      </p:pic>
      <p:sp>
        <p:nvSpPr>
          <p:cNvPr id="3" name="Rectangle 2">
            <a:extLst>
              <a:ext uri="{FF2B5EF4-FFF2-40B4-BE49-F238E27FC236}">
                <a16:creationId xmlns:a16="http://schemas.microsoft.com/office/drawing/2014/main" id="{B3CD91D4-A803-0010-9422-2D3B090F1608}"/>
              </a:ext>
            </a:extLst>
          </p:cNvPr>
          <p:cNvSpPr/>
          <p:nvPr/>
        </p:nvSpPr>
        <p:spPr>
          <a:xfrm>
            <a:off x="1795527" y="4420821"/>
            <a:ext cx="1442403" cy="400110"/>
          </a:xfrm>
          <a:prstGeom prst="rect">
            <a:avLst/>
          </a:prstGeom>
          <a:solidFill>
            <a:srgbClr val="F7FBF9"/>
          </a:solid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b="1" cap="none" spc="0" dirty="0">
                <a:ln>
                  <a:solidFill>
                    <a:schemeClr val="accent6"/>
                  </a:solidFill>
                </a:ln>
                <a:solidFill>
                  <a:schemeClr val="accent6">
                    <a:lumMod val="40000"/>
                    <a:lumOff val="60000"/>
                  </a:schemeClr>
                </a:solidFill>
                <a:effectLst/>
              </a:rPr>
              <a:t>Explanation</a:t>
            </a:r>
          </a:p>
        </p:txBody>
      </p:sp>
    </p:spTree>
    <p:extLst>
      <p:ext uri="{BB962C8B-B14F-4D97-AF65-F5344CB8AC3E}">
        <p14:creationId xmlns:p14="http://schemas.microsoft.com/office/powerpoint/2010/main" val="2890115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50" name="Picture 2" descr="10 Ways to Prepare for Your Final Exam - Florida National University">
            <a:extLst>
              <a:ext uri="{FF2B5EF4-FFF2-40B4-BE49-F238E27FC236}">
                <a16:creationId xmlns:a16="http://schemas.microsoft.com/office/drawing/2014/main" id="{7FA902EE-98D8-44CE-8BFA-0E7B9B051F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746"/>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770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2" descr="Thank You Messages for Lectures and Presentations">
            <a:extLst>
              <a:ext uri="{FF2B5EF4-FFF2-40B4-BE49-F238E27FC236}">
                <a16:creationId xmlns:a16="http://schemas.microsoft.com/office/drawing/2014/main" id="{ACBEEE0B-4048-7162-914E-9F50594F48B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9436E25A-C259-B9EC-9F47-8A013988E2C9}"/>
              </a:ext>
            </a:extLst>
          </p:cNvPr>
          <p:cNvPicPr>
            <a:picLocks noChangeAspect="1"/>
          </p:cNvPicPr>
          <p:nvPr/>
        </p:nvPicPr>
        <p:blipFill>
          <a:blip r:embed="rId2"/>
          <a:stretch>
            <a:fillRect/>
          </a:stretch>
        </p:blipFill>
        <p:spPr>
          <a:xfrm>
            <a:off x="3471496" y="409153"/>
            <a:ext cx="5249008" cy="6039693"/>
          </a:xfrm>
          <a:prstGeom prst="rect">
            <a:avLst/>
          </a:prstGeom>
        </p:spPr>
      </p:pic>
    </p:spTree>
    <p:extLst>
      <p:ext uri="{BB962C8B-B14F-4D97-AF65-F5344CB8AC3E}">
        <p14:creationId xmlns:p14="http://schemas.microsoft.com/office/powerpoint/2010/main" val="281841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642</TotalTime>
  <Words>577</Words>
  <Application>Microsoft Office PowerPoint</Application>
  <PresentationFormat>Widescreen</PresentationFormat>
  <Paragraphs>69</Paragraphs>
  <Slides>23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Arial Black</vt:lpstr>
      <vt:lpstr>Arial Nova</vt:lpstr>
      <vt:lpstr>Calibri</vt:lpstr>
      <vt:lpstr>Calibri Light</vt:lpstr>
      <vt:lpstr>Courier</vt:lpstr>
      <vt:lpstr>Open Sans</vt:lpstr>
      <vt:lpstr>Symbol</vt:lpstr>
      <vt:lpstr>Times New Roman</vt:lpstr>
      <vt:lpstr>unset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Said Fawzy</dc:creator>
  <cp:lastModifiedBy>Said Fawzy</cp:lastModifiedBy>
  <cp:revision>68</cp:revision>
  <dcterms:created xsi:type="dcterms:W3CDTF">2023-05-21T05:44:35Z</dcterms:created>
  <dcterms:modified xsi:type="dcterms:W3CDTF">2023-11-02T11:29:00Z</dcterms:modified>
</cp:coreProperties>
</file>