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5"/>
  </p:notesMasterIdLst>
  <p:sldIdLst>
    <p:sldId id="259" r:id="rId3"/>
    <p:sldId id="263" r:id="rId4"/>
    <p:sldId id="448" r:id="rId5"/>
    <p:sldId id="504" r:id="rId6"/>
    <p:sldId id="505" r:id="rId7"/>
    <p:sldId id="506" r:id="rId8"/>
    <p:sldId id="508" r:id="rId9"/>
    <p:sldId id="507" r:id="rId10"/>
    <p:sldId id="509" r:id="rId11"/>
    <p:sldId id="510" r:id="rId12"/>
    <p:sldId id="511" r:id="rId13"/>
    <p:sldId id="512" r:id="rId14"/>
    <p:sldId id="513" r:id="rId15"/>
    <p:sldId id="514" r:id="rId16"/>
    <p:sldId id="478" r:id="rId17"/>
    <p:sldId id="515" r:id="rId18"/>
    <p:sldId id="516" r:id="rId19"/>
    <p:sldId id="472" r:id="rId20"/>
    <p:sldId id="521" r:id="rId21"/>
    <p:sldId id="522" r:id="rId22"/>
    <p:sldId id="523" r:id="rId23"/>
    <p:sldId id="525" r:id="rId24"/>
    <p:sldId id="524" r:id="rId25"/>
    <p:sldId id="401" r:id="rId26"/>
    <p:sldId id="488" r:id="rId27"/>
    <p:sldId id="526" r:id="rId28"/>
    <p:sldId id="527" r:id="rId29"/>
    <p:sldId id="528" r:id="rId30"/>
    <p:sldId id="529" r:id="rId31"/>
    <p:sldId id="530" r:id="rId32"/>
    <p:sldId id="567" r:id="rId33"/>
    <p:sldId id="498" r:id="rId34"/>
    <p:sldId id="531" r:id="rId35"/>
    <p:sldId id="532" r:id="rId36"/>
    <p:sldId id="533" r:id="rId37"/>
    <p:sldId id="534" r:id="rId38"/>
    <p:sldId id="535" r:id="rId39"/>
    <p:sldId id="536" r:id="rId40"/>
    <p:sldId id="537" r:id="rId41"/>
    <p:sldId id="538" r:id="rId42"/>
    <p:sldId id="539" r:id="rId43"/>
    <p:sldId id="25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3025"/>
    <a:srgbClr val="120701"/>
    <a:srgbClr val="F7FBF9"/>
    <a:srgbClr val="B62E24"/>
    <a:srgbClr val="D5372A"/>
    <a:srgbClr val="DB3431"/>
    <a:srgbClr val="DEDAD9"/>
    <a:srgbClr val="F8C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3F25E-AEB8-45C7-B9CC-7158A331DEA0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8C6F-3310-4DBB-96A5-51E928F68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6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6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2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0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0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8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0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81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85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47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24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69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50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37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75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0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3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39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1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7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726737"/>
            <a:ext cx="12192000" cy="91691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5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Date and Time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51D46-EA3E-FC8C-EDBE-EC71CDE66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77" y="214567"/>
            <a:ext cx="2913463" cy="9446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BA10B2-1950-C5EB-1FA3-F3AD0FC30928}"/>
              </a:ext>
            </a:extLst>
          </p:cNvPr>
          <p:cNvSpPr/>
          <p:nvPr/>
        </p:nvSpPr>
        <p:spPr>
          <a:xfrm>
            <a:off x="5791199" y="1227349"/>
            <a:ext cx="609601" cy="812109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prstTxWarp prst="textPlain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7200" b="1" dirty="0">
                <a:ln w="6600">
                  <a:solidFill>
                    <a:srgbClr val="120701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48" y="1240019"/>
            <a:ext cx="7491500" cy="1080000"/>
            <a:chOff x="1437350" y="1240020"/>
            <a:chExt cx="4475786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0" y="1240020"/>
              <a:ext cx="430163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925742" y="1552614"/>
              <a:ext cx="3987394" cy="271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Understand date and time  calculations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82394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583833"/>
            <a:ext cx="7200000" cy="1080000"/>
            <a:chOff x="1437351" y="2358629"/>
            <a:chExt cx="7200000" cy="1080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29"/>
              <a:ext cx="7200000" cy="1080000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2254811" y="2914418"/>
              <a:ext cx="612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Dynamic date and time entries 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21333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9F337C-E9DD-5BB7-A57A-A5B98F1D4D90}"/>
              </a:ext>
            </a:extLst>
          </p:cNvPr>
          <p:cNvGrpSpPr/>
          <p:nvPr/>
        </p:nvGrpSpPr>
        <p:grpSpPr>
          <a:xfrm>
            <a:off x="8151095" y="218152"/>
            <a:ext cx="3845427" cy="686723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90D02C9-9DA4-FCBE-F68F-A9A1766C1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01717C-465E-2436-D392-D9259C32773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276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2902904" y="-883813"/>
            <a:ext cx="2245853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288043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3091998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25635" y="2794535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date and time  calculations </a:t>
            </a:r>
            <a:endParaRPr lang="en-US" sz="3200" b="1" dirty="0">
              <a:solidFill>
                <a:prstClr val="white"/>
              </a:solidFill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10625023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19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6CAA5F-31C0-BA93-9FF6-7433D336C3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7" b="15518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4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378BBE-37C1-911C-41D5-8A6DA44F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9" y="51916"/>
            <a:ext cx="12012701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5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8B03A-71CE-8143-75B5-8B9C9C08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92" y="1509444"/>
            <a:ext cx="3877216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9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D6B35-C86C-EF23-133C-3E7A8DA1F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42390"/>
            <a:ext cx="12060333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0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E8F42-72E0-16F4-7D9C-9F010C8F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18574"/>
            <a:ext cx="12003175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4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F2346-899D-D669-8353-31FB7271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07" y="29109"/>
            <a:ext cx="3515216" cy="695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B7882B-CAFD-52E7-C911-229F31C37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617" y="943509"/>
            <a:ext cx="9802593" cy="5706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5A1575-8633-C5F6-C43A-301CBB39B26E}"/>
              </a:ext>
            </a:extLst>
          </p:cNvPr>
          <p:cNvSpPr/>
          <p:nvPr/>
        </p:nvSpPr>
        <p:spPr>
          <a:xfrm>
            <a:off x="6859225" y="4554088"/>
            <a:ext cx="31710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 Jan 1900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755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D4E813-B9A0-7DEF-5F41-6718FBEFC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99" y="724531"/>
            <a:ext cx="9726382" cy="5782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5C47AE-B44F-C336-65D4-C2A0C906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07" y="29109"/>
            <a:ext cx="3515216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3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EFD3F-48E0-5826-DC1C-C15A249DF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01" y="575935"/>
            <a:ext cx="3572374" cy="685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D6F33-385F-88EA-594E-7F16ED252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920" y="1409581"/>
            <a:ext cx="9831172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B07CB-1E89-8500-CB8E-DEC6F912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14" y="514866"/>
            <a:ext cx="3505689" cy="628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006ED-EE90-94A2-FAFE-3D4F2BCF5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40" y="1838103"/>
            <a:ext cx="9993120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70D21-78FC-7BAA-5331-5812F5CBC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87" y="658031"/>
            <a:ext cx="4867954" cy="485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08AB6-E3E1-55E7-080A-21CBB218F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1752366"/>
            <a:ext cx="9926435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BBD3A-7121-0781-F8B8-638F7AF8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89" y="419333"/>
            <a:ext cx="3391373" cy="676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C9A0E9-E46D-4108-E33C-D247E0CF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230" y="1980998"/>
            <a:ext cx="9783540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5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E15C4-1EF5-7C5F-9E20-517A0C4D6F53}"/>
              </a:ext>
            </a:extLst>
          </p:cNvPr>
          <p:cNvSpPr txBox="1"/>
          <p:nvPr/>
        </p:nvSpPr>
        <p:spPr>
          <a:xfrm>
            <a:off x="1156448" y="1542302"/>
            <a:ext cx="9368118" cy="479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 6-1</a:t>
            </a: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en-US" sz="2800" b="1" dirty="0">
              <a:effectLst/>
              <a:latin typeface="Arial Nova" panose="020B05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date </a:t>
            </a:r>
            <a:r>
              <a:rPr lang="en-US" sz="2800" b="1" i="1" dirty="0">
                <a:effectLst/>
                <a:latin typeface="Courier"/>
                <a:ea typeface="Times New Roman" panose="02020603050405020304" pitchFamily="18" charset="0"/>
              </a:rPr>
              <a:t>05/30/23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serial number of </a:t>
            </a:r>
            <a:r>
              <a:rPr lang="en-US" sz="2800" b="1" i="1" dirty="0">
                <a:effectLst/>
                <a:latin typeface="Courier"/>
                <a:ea typeface="Times New Roman" panose="02020603050405020304" pitchFamily="18" charset="0"/>
              </a:rPr>
              <a:t>45076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What serial number will the date </a:t>
            </a:r>
            <a:r>
              <a:rPr lang="en-US" sz="2800" b="1" i="1" dirty="0">
                <a:effectLst/>
                <a:latin typeface="Courier"/>
                <a:ea typeface="Times New Roman" panose="02020603050405020304" pitchFamily="18" charset="0"/>
              </a:rPr>
              <a:t>05/31/23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have?</a:t>
            </a:r>
          </a:p>
          <a:p>
            <a:pPr lvl="2"/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800" b="1" i="1" dirty="0">
                <a:effectLst/>
                <a:latin typeface="Courier"/>
                <a:ea typeface="Times New Roman" panose="02020603050405020304" pitchFamily="18" charset="0"/>
              </a:rPr>
              <a:t>45077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800" b="1" i="1" dirty="0">
                <a:effectLst/>
                <a:latin typeface="Courier"/>
                <a:ea typeface="Times New Roman" panose="02020603050405020304" pitchFamily="18" charset="0"/>
              </a:rPr>
              <a:t>45078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800" b="1" i="1" dirty="0">
                <a:effectLst/>
                <a:latin typeface="Courier"/>
                <a:ea typeface="Times New Roman" panose="02020603050405020304" pitchFamily="18" charset="0"/>
              </a:rPr>
              <a:t>45079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a good question? | Dragonfly Training">
            <a:extLst>
              <a:ext uri="{FF2B5EF4-FFF2-40B4-BE49-F238E27FC236}">
                <a16:creationId xmlns:a16="http://schemas.microsoft.com/office/drawing/2014/main" id="{2F67936F-EF2E-848A-A7EA-0227DAEA9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229" y="62755"/>
            <a:ext cx="1982861" cy="198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40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28A0DCB-A6F3-F8DB-8CCB-81CA3C40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02" y="868097"/>
            <a:ext cx="8744146" cy="4690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8E15C4-1EF5-7C5F-9E20-517A0C4D6F53}"/>
              </a:ext>
            </a:extLst>
          </p:cNvPr>
          <p:cNvSpPr txBox="1"/>
          <p:nvPr/>
        </p:nvSpPr>
        <p:spPr>
          <a:xfrm>
            <a:off x="718839" y="975673"/>
            <a:ext cx="9368118" cy="5802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 6-1</a:t>
            </a:r>
          </a:p>
        </p:txBody>
      </p:sp>
      <p:pic>
        <p:nvPicPr>
          <p:cNvPr id="2" name="Picture 2" descr="Small person and word ANSWER. Stock Photo by ©rukanoga 26677269">
            <a:extLst>
              <a:ext uri="{FF2B5EF4-FFF2-40B4-BE49-F238E27FC236}">
                <a16:creationId xmlns:a16="http://schemas.microsoft.com/office/drawing/2014/main" id="{7750922E-157E-1BB2-7ACF-72F66CFC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577" y="7462"/>
            <a:ext cx="1936423" cy="193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33AB1A-983F-F3A0-AE9D-42571B98B1D2}"/>
              </a:ext>
            </a:extLst>
          </p:cNvPr>
          <p:cNvSpPr/>
          <p:nvPr/>
        </p:nvSpPr>
        <p:spPr>
          <a:xfrm>
            <a:off x="1223686" y="4321003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226356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2902904" y="-883813"/>
            <a:ext cx="2245853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D63025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288043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3091998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25635" y="304075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Dynamic date and time entries </a:t>
            </a:r>
            <a:endParaRPr lang="en-US" sz="3200" b="1" dirty="0">
              <a:solidFill>
                <a:prstClr val="white"/>
              </a:solidFill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10625023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25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emo - Free computer icons">
            <a:extLst>
              <a:ext uri="{FF2B5EF4-FFF2-40B4-BE49-F238E27FC236}">
                <a16:creationId xmlns:a16="http://schemas.microsoft.com/office/drawing/2014/main" id="{93EEA3AC-B5C9-B068-D603-16BECA95C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33" y="645782"/>
            <a:ext cx="2572732" cy="257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12E21E-AEB5-3FA8-105F-39C3904A55F7}"/>
              </a:ext>
            </a:extLst>
          </p:cNvPr>
          <p:cNvSpPr/>
          <p:nvPr/>
        </p:nvSpPr>
        <p:spPr>
          <a:xfrm>
            <a:off x="4000227" y="726326"/>
            <a:ext cx="442621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 6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FC1947-89AB-50C4-AB4C-8370904C5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557" y="3957916"/>
            <a:ext cx="8240886" cy="72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E15C4-1EF5-7C5F-9E20-517A0C4D6F53}"/>
              </a:ext>
            </a:extLst>
          </p:cNvPr>
          <p:cNvSpPr txBox="1"/>
          <p:nvPr/>
        </p:nvSpPr>
        <p:spPr>
          <a:xfrm>
            <a:off x="1156448" y="1542302"/>
            <a:ext cx="9368118" cy="424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 6-2</a:t>
            </a: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en-US" sz="2400" b="1" dirty="0">
              <a:effectLst/>
              <a:latin typeface="Arial Nova" panose="020B05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many arguments does the </a:t>
            </a:r>
            <a:r>
              <a:rPr lang="en-US" sz="2400" b="1" dirty="0">
                <a:effectLst/>
                <a:latin typeface="unset"/>
                <a:ea typeface="Calibri" panose="020F0502020204030204" pitchFamily="34" charset="0"/>
                <a:cs typeface="Arial" panose="020B0604020202020204" pitchFamily="34" charset="0"/>
              </a:rPr>
              <a:t>TODAY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function require?</a:t>
            </a:r>
          </a:p>
          <a:p>
            <a:pPr lvl="2"/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None</a:t>
            </a: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One</a:t>
            </a: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</a:p>
          <a:p>
            <a:endParaRPr lang="en-US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a good question? | Dragonfly Training">
            <a:extLst>
              <a:ext uri="{FF2B5EF4-FFF2-40B4-BE49-F238E27FC236}">
                <a16:creationId xmlns:a16="http://schemas.microsoft.com/office/drawing/2014/main" id="{2F67936F-EF2E-848A-A7EA-0227DAEA9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229" y="62755"/>
            <a:ext cx="1982861" cy="198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14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2676E16-093F-B39B-5E07-98C3BD5D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48" y="1022807"/>
            <a:ext cx="9716118" cy="48123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8E15C4-1EF5-7C5F-9E20-517A0C4D6F53}"/>
              </a:ext>
            </a:extLst>
          </p:cNvPr>
          <p:cNvSpPr txBox="1"/>
          <p:nvPr/>
        </p:nvSpPr>
        <p:spPr>
          <a:xfrm>
            <a:off x="1156448" y="878914"/>
            <a:ext cx="9368118" cy="5808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000000"/>
                </a:solidFill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 6-2</a:t>
            </a:r>
            <a:endParaRPr lang="en-US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Small person and word ANSWER. Stock Photo by ©rukanoga 26677269">
            <a:extLst>
              <a:ext uri="{FF2B5EF4-FFF2-40B4-BE49-F238E27FC236}">
                <a16:creationId xmlns:a16="http://schemas.microsoft.com/office/drawing/2014/main" id="{FF89A800-50DE-4887-D799-4A014E48C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577" y="7462"/>
            <a:ext cx="1936423" cy="193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9E8D01-863E-C51B-C558-69C44FFE5500}"/>
              </a:ext>
            </a:extLst>
          </p:cNvPr>
          <p:cNvSpPr/>
          <p:nvPr/>
        </p:nvSpPr>
        <p:spPr>
          <a:xfrm>
            <a:off x="1519521" y="4500295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29974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6382B-2F99-49DB-2274-019DD8A5184B}"/>
              </a:ext>
            </a:extLst>
          </p:cNvPr>
          <p:cNvSpPr txBox="1"/>
          <p:nvPr/>
        </p:nvSpPr>
        <p:spPr>
          <a:xfrm>
            <a:off x="797073" y="513737"/>
            <a:ext cx="6094428" cy="51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2800" b="1" dirty="0"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NETWORKDAYS</a:t>
            </a:r>
          </a:p>
        </p:txBody>
      </p:sp>
      <p:pic>
        <p:nvPicPr>
          <p:cNvPr id="4" name="Picture 3" descr="Worksheet with NETWORKDAYS and NETWORKDAYS.INTL formulas. Syntax displayed.">
            <a:extLst>
              <a:ext uri="{FF2B5EF4-FFF2-40B4-BE49-F238E27FC236}">
                <a16:creationId xmlns:a16="http://schemas.microsoft.com/office/drawing/2014/main" id="{2C00A8C6-1962-98CA-D969-DC99FDC3A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682" y="1344985"/>
            <a:ext cx="9062532" cy="5097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900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818CCC-7F01-D037-AF6D-A71E3AA96A16}"/>
              </a:ext>
            </a:extLst>
          </p:cNvPr>
          <p:cNvSpPr txBox="1"/>
          <p:nvPr/>
        </p:nvSpPr>
        <p:spPr>
          <a:xfrm>
            <a:off x="833717" y="493452"/>
            <a:ext cx="6096000" cy="5191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Bef>
                <a:spcPts val="200"/>
              </a:spcBef>
              <a:defRPr sz="2800" b="1"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DATE</a:t>
            </a:r>
          </a:p>
        </p:txBody>
      </p:sp>
      <p:pic>
        <p:nvPicPr>
          <p:cNvPr id="4" name="Picture 3" descr="Worksheet with DATE function formula. Formula syntax displayed.">
            <a:extLst>
              <a:ext uri="{FF2B5EF4-FFF2-40B4-BE49-F238E27FC236}">
                <a16:creationId xmlns:a16="http://schemas.microsoft.com/office/drawing/2014/main" id="{52C9DAB0-CAD5-3297-D025-AF60BD61C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236" y="1153504"/>
            <a:ext cx="9510028" cy="5351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68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FA7550-7870-940D-8997-EE355199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15" y="1609471"/>
            <a:ext cx="9388439" cy="4357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B2373C-0BE1-AEA2-8DE4-358E7A252942}"/>
              </a:ext>
            </a:extLst>
          </p:cNvPr>
          <p:cNvSpPr txBox="1"/>
          <p:nvPr/>
        </p:nvSpPr>
        <p:spPr>
          <a:xfrm>
            <a:off x="797073" y="513737"/>
            <a:ext cx="6094428" cy="51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2800" b="1" dirty="0">
                <a:effectLst/>
                <a:latin typeface="Arial Nova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NETWORKDAYS.INTL</a:t>
            </a:r>
          </a:p>
        </p:txBody>
      </p:sp>
    </p:spTree>
    <p:extLst>
      <p:ext uri="{BB962C8B-B14F-4D97-AF65-F5344CB8AC3E}">
        <p14:creationId xmlns:p14="http://schemas.microsoft.com/office/powerpoint/2010/main" val="22478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Exercise 6: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Calculating the </a:t>
            </a:r>
            <a:br>
              <a:rPr lang="ar-EG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number of working days remaining in the year.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38008-EC26-3562-9A56-40079BB0B357}"/>
              </a:ext>
            </a:extLst>
          </p:cNvPr>
          <p:cNvGrpSpPr/>
          <p:nvPr/>
        </p:nvGrpSpPr>
        <p:grpSpPr>
          <a:xfrm>
            <a:off x="685799" y="308163"/>
            <a:ext cx="5906673" cy="1359274"/>
            <a:chOff x="802340" y="469527"/>
            <a:chExt cx="5906673" cy="1359274"/>
          </a:xfrm>
        </p:grpSpPr>
        <p:pic>
          <p:nvPicPr>
            <p:cNvPr id="1026" name="Picture 2" descr="Exercise-Questions2 - A More Beautiful Question by Warren Berger">
              <a:extLst>
                <a:ext uri="{FF2B5EF4-FFF2-40B4-BE49-F238E27FC236}">
                  <a16:creationId xmlns:a16="http://schemas.microsoft.com/office/drawing/2014/main" id="{A51A044D-8CFC-6770-87C7-BB4183085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340" y="469527"/>
              <a:ext cx="1359274" cy="1359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29828-6F0E-4A34-48BE-1FF77B528830}"/>
                </a:ext>
              </a:extLst>
            </p:cNvPr>
            <p:cNvSpPr/>
            <p:nvPr/>
          </p:nvSpPr>
          <p:spPr>
            <a:xfrm>
              <a:off x="2161614" y="764443"/>
              <a:ext cx="454739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Exercise Questions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0E09C47-E26B-C703-41FE-A5E132934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51" y="1962353"/>
            <a:ext cx="10264591" cy="392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Question 1</a:t>
            </a:r>
            <a:endParaRPr lang="en-US" sz="3200" b="1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In the spreadsheet, you were asked to create a formula using the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MONTH </a:t>
            </a:r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function. The formula was: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2400" b="1" i="1" dirty="0">
                <a:solidFill>
                  <a:srgbClr val="333333"/>
                </a:solidFill>
                <a:effectLst/>
                <a:latin typeface="Courier"/>
                <a:ea typeface="Times New Roman" panose="02020603050405020304" pitchFamily="18" charset="0"/>
                <a:cs typeface="Arial" panose="020B0604020202020204" pitchFamily="34" charset="0"/>
              </a:rPr>
              <a:t>=MONTH(D5)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Cell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D5 </a:t>
            </a:r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contained the entry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07/02/23</a:t>
            </a:r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. This date is in American format. What was the result of this calculation?</a:t>
            </a:r>
            <a:endParaRPr lang="ar-EG" sz="2400" dirty="0">
              <a:solidFill>
                <a:srgbClr val="333333"/>
              </a:solidFill>
              <a:effectLst/>
              <a:ea typeface="Times New Roman" panose="02020603050405020304" pitchFamily="18" charset="0"/>
            </a:endParaRPr>
          </a:p>
          <a:p>
            <a:pPr lvl="2"/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2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7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2023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6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38008-EC26-3562-9A56-40079BB0B357}"/>
              </a:ext>
            </a:extLst>
          </p:cNvPr>
          <p:cNvGrpSpPr/>
          <p:nvPr/>
        </p:nvGrpSpPr>
        <p:grpSpPr>
          <a:xfrm>
            <a:off x="685799" y="308163"/>
            <a:ext cx="5906673" cy="1359274"/>
            <a:chOff x="802340" y="469527"/>
            <a:chExt cx="5906673" cy="1359274"/>
          </a:xfrm>
        </p:grpSpPr>
        <p:pic>
          <p:nvPicPr>
            <p:cNvPr id="1026" name="Picture 2" descr="Exercise-Questions2 - A More Beautiful Question by Warren Berger">
              <a:extLst>
                <a:ext uri="{FF2B5EF4-FFF2-40B4-BE49-F238E27FC236}">
                  <a16:creationId xmlns:a16="http://schemas.microsoft.com/office/drawing/2014/main" id="{A51A044D-8CFC-6770-87C7-BB4183085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340" y="469527"/>
              <a:ext cx="1359274" cy="1359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29828-6F0E-4A34-48BE-1FF77B528830}"/>
                </a:ext>
              </a:extLst>
            </p:cNvPr>
            <p:cNvSpPr/>
            <p:nvPr/>
          </p:nvSpPr>
          <p:spPr>
            <a:xfrm>
              <a:off x="2161614" y="764443"/>
              <a:ext cx="454739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Exercise Questions</a:t>
              </a:r>
            </a:p>
          </p:txBody>
        </p:sp>
      </p:grp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FC4C53A-BFD8-348F-9390-653BCFF22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46" y="1962352"/>
            <a:ext cx="10125635" cy="42904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0984FB-D63C-B25D-009A-2A8637988283}"/>
              </a:ext>
            </a:extLst>
          </p:cNvPr>
          <p:cNvSpPr/>
          <p:nvPr/>
        </p:nvSpPr>
        <p:spPr>
          <a:xfrm>
            <a:off x="2003615" y="5109895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87165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38008-EC26-3562-9A56-40079BB0B357}"/>
              </a:ext>
            </a:extLst>
          </p:cNvPr>
          <p:cNvGrpSpPr/>
          <p:nvPr/>
        </p:nvGrpSpPr>
        <p:grpSpPr>
          <a:xfrm>
            <a:off x="685799" y="308163"/>
            <a:ext cx="5906673" cy="1359274"/>
            <a:chOff x="802340" y="469527"/>
            <a:chExt cx="5906673" cy="1359274"/>
          </a:xfrm>
        </p:grpSpPr>
        <p:pic>
          <p:nvPicPr>
            <p:cNvPr id="1026" name="Picture 2" descr="Exercise-Questions2 - A More Beautiful Question by Warren Berger">
              <a:extLst>
                <a:ext uri="{FF2B5EF4-FFF2-40B4-BE49-F238E27FC236}">
                  <a16:creationId xmlns:a16="http://schemas.microsoft.com/office/drawing/2014/main" id="{A51A044D-8CFC-6770-87C7-BB4183085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340" y="469527"/>
              <a:ext cx="1359274" cy="1359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29828-6F0E-4A34-48BE-1FF77B528830}"/>
                </a:ext>
              </a:extLst>
            </p:cNvPr>
            <p:cNvSpPr/>
            <p:nvPr/>
          </p:nvSpPr>
          <p:spPr>
            <a:xfrm>
              <a:off x="2161614" y="764443"/>
              <a:ext cx="454739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Exercise Questions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98DD46F-718D-1354-02D8-ECB82084423F}"/>
              </a:ext>
            </a:extLst>
          </p:cNvPr>
          <p:cNvSpPr txBox="1"/>
          <p:nvPr/>
        </p:nvSpPr>
        <p:spPr>
          <a:xfrm>
            <a:off x="685799" y="2542155"/>
            <a:ext cx="10564907" cy="2778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2</a:t>
            </a:r>
            <a:endParaRPr lang="en-US" sz="44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 or False: The result of your </a:t>
            </a:r>
            <a:r>
              <a:rPr lang="en-US" sz="28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TODAY </a:t>
            </a:r>
            <a:r>
              <a:rPr lang="en-US" sz="2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function in cell </a:t>
            </a:r>
            <a:r>
              <a:rPr lang="en-US" sz="28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B1 </a:t>
            </a:r>
            <a:r>
              <a:rPr lang="en-US" sz="2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changes each time the formulas in the worksheet recalculate.</a:t>
            </a:r>
            <a:endParaRPr lang="ar-EG" sz="2800" dirty="0">
              <a:solidFill>
                <a:srgbClr val="333333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2"/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False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6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38008-EC26-3562-9A56-40079BB0B357}"/>
              </a:ext>
            </a:extLst>
          </p:cNvPr>
          <p:cNvGrpSpPr/>
          <p:nvPr/>
        </p:nvGrpSpPr>
        <p:grpSpPr>
          <a:xfrm>
            <a:off x="685799" y="308163"/>
            <a:ext cx="5906673" cy="1359274"/>
            <a:chOff x="802340" y="469527"/>
            <a:chExt cx="5906673" cy="1359274"/>
          </a:xfrm>
        </p:grpSpPr>
        <p:pic>
          <p:nvPicPr>
            <p:cNvPr id="1026" name="Picture 2" descr="Exercise-Questions2 - A More Beautiful Question by Warren Berger">
              <a:extLst>
                <a:ext uri="{FF2B5EF4-FFF2-40B4-BE49-F238E27FC236}">
                  <a16:creationId xmlns:a16="http://schemas.microsoft.com/office/drawing/2014/main" id="{A51A044D-8CFC-6770-87C7-BB4183085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340" y="469527"/>
              <a:ext cx="1359274" cy="1359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29828-6F0E-4A34-48BE-1FF77B528830}"/>
                </a:ext>
              </a:extLst>
            </p:cNvPr>
            <p:cNvSpPr/>
            <p:nvPr/>
          </p:nvSpPr>
          <p:spPr>
            <a:xfrm>
              <a:off x="2161614" y="764443"/>
              <a:ext cx="454739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Exercise Questions</a:t>
              </a:r>
            </a:p>
          </p:txBody>
        </p:sp>
      </p:grp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9FD9D062-7AB0-A487-8F40-6132C59C9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32" y="1962353"/>
            <a:ext cx="10697977" cy="3740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30DF139-8786-786D-4F03-7C05CC503E4E}"/>
              </a:ext>
            </a:extLst>
          </p:cNvPr>
          <p:cNvSpPr/>
          <p:nvPr/>
        </p:nvSpPr>
        <p:spPr>
          <a:xfrm>
            <a:off x="1653992" y="4240319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85406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38008-EC26-3562-9A56-40079BB0B357}"/>
              </a:ext>
            </a:extLst>
          </p:cNvPr>
          <p:cNvGrpSpPr/>
          <p:nvPr/>
        </p:nvGrpSpPr>
        <p:grpSpPr>
          <a:xfrm>
            <a:off x="685799" y="308163"/>
            <a:ext cx="5906673" cy="1359274"/>
            <a:chOff x="802340" y="469527"/>
            <a:chExt cx="5906673" cy="1359274"/>
          </a:xfrm>
        </p:grpSpPr>
        <p:pic>
          <p:nvPicPr>
            <p:cNvPr id="1026" name="Picture 2" descr="Exercise-Questions2 - A More Beautiful Question by Warren Berger">
              <a:extLst>
                <a:ext uri="{FF2B5EF4-FFF2-40B4-BE49-F238E27FC236}">
                  <a16:creationId xmlns:a16="http://schemas.microsoft.com/office/drawing/2014/main" id="{A51A044D-8CFC-6770-87C7-BB4183085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340" y="469527"/>
              <a:ext cx="1359274" cy="1359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29828-6F0E-4A34-48BE-1FF77B528830}"/>
                </a:ext>
              </a:extLst>
            </p:cNvPr>
            <p:cNvSpPr/>
            <p:nvPr/>
          </p:nvSpPr>
          <p:spPr>
            <a:xfrm>
              <a:off x="2161614" y="764443"/>
              <a:ext cx="454739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Exercise Questions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8CC264-197F-DBE7-AEB8-E3E7F2874C40}"/>
              </a:ext>
            </a:extLst>
          </p:cNvPr>
          <p:cNvSpPr txBox="1"/>
          <p:nvPr/>
        </p:nvSpPr>
        <p:spPr>
          <a:xfrm>
            <a:off x="685799" y="2265156"/>
            <a:ext cx="10448366" cy="314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3</a:t>
            </a:r>
            <a:endParaRPr lang="en-US" sz="4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created a formula using the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NETWORKDAYS </a:t>
            </a: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function. You added two arguments for the function, which were the start date, and the end date. What data did the formula automatically exclude from the result?</a:t>
            </a:r>
            <a:endParaRPr lang="ar-EG" sz="2400" dirty="0">
              <a:solidFill>
                <a:srgbClr val="333333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2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Any holiday date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Any weekend date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Any weekend and holiday date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15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38008-EC26-3562-9A56-40079BB0B357}"/>
              </a:ext>
            </a:extLst>
          </p:cNvPr>
          <p:cNvGrpSpPr/>
          <p:nvPr/>
        </p:nvGrpSpPr>
        <p:grpSpPr>
          <a:xfrm>
            <a:off x="685799" y="308163"/>
            <a:ext cx="5906673" cy="1359274"/>
            <a:chOff x="802340" y="469527"/>
            <a:chExt cx="5906673" cy="1359274"/>
          </a:xfrm>
        </p:grpSpPr>
        <p:pic>
          <p:nvPicPr>
            <p:cNvPr id="1026" name="Picture 2" descr="Exercise-Questions2 - A More Beautiful Question by Warren Berger">
              <a:extLst>
                <a:ext uri="{FF2B5EF4-FFF2-40B4-BE49-F238E27FC236}">
                  <a16:creationId xmlns:a16="http://schemas.microsoft.com/office/drawing/2014/main" id="{A51A044D-8CFC-6770-87C7-BB4183085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340" y="469527"/>
              <a:ext cx="1359274" cy="1359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529828-6F0E-4A34-48BE-1FF77B528830}"/>
                </a:ext>
              </a:extLst>
            </p:cNvPr>
            <p:cNvSpPr/>
            <p:nvPr/>
          </p:nvSpPr>
          <p:spPr>
            <a:xfrm>
              <a:off x="2161614" y="764443"/>
              <a:ext cx="454739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1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Exercise Questions</a:t>
              </a:r>
            </a:p>
          </p:txBody>
        </p:sp>
      </p:grp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E49EF70-8512-407C-1B44-E79A416C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27" y="1962353"/>
            <a:ext cx="10477287" cy="38539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732D23-4FB7-9D93-21CB-147436191C8D}"/>
              </a:ext>
            </a:extLst>
          </p:cNvPr>
          <p:cNvSpPr/>
          <p:nvPr/>
        </p:nvSpPr>
        <p:spPr>
          <a:xfrm>
            <a:off x="1519521" y="4383752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279675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iz on Belgium">
            <a:extLst>
              <a:ext uri="{FF2B5EF4-FFF2-40B4-BE49-F238E27FC236}">
                <a16:creationId xmlns:a16="http://schemas.microsoft.com/office/drawing/2014/main" id="{B735E5B5-1275-42FF-D904-4D7FD40FB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65" y="0"/>
            <a:ext cx="97378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86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D52B008-6A72-B847-DBD6-A658C737180E}"/>
              </a:ext>
            </a:extLst>
          </p:cNvPr>
          <p:cNvSpPr txBox="1"/>
          <p:nvPr/>
        </p:nvSpPr>
        <p:spPr>
          <a:xfrm>
            <a:off x="699246" y="2009208"/>
            <a:ext cx="10524565" cy="277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1</a:t>
            </a:r>
            <a:endParaRPr lang="en-US" sz="4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have created a formula in your spreadsheet using the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TODAY </a:t>
            </a: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function. What must you include after the word TODAY in your formula?</a:t>
            </a:r>
          </a:p>
          <a:p>
            <a:pPr lvl="2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 opening and closing parenthesis and one space.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 opening and closing parenthesis and two spaces.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 opening and closing parenthesis only.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52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7D48F1A-D8ED-53FC-5BD0-756B5525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57" y="1857411"/>
            <a:ext cx="10773169" cy="37798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0005CC-4C2F-4DF2-8089-2A7F7301C482}"/>
              </a:ext>
            </a:extLst>
          </p:cNvPr>
          <p:cNvSpPr/>
          <p:nvPr/>
        </p:nvSpPr>
        <p:spPr>
          <a:xfrm>
            <a:off x="1671921" y="4356857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32765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1770E8-7019-D17F-4783-9FEF19BBBB5E}"/>
              </a:ext>
            </a:extLst>
          </p:cNvPr>
          <p:cNvSpPr txBox="1"/>
          <p:nvPr/>
        </p:nvSpPr>
        <p:spPr>
          <a:xfrm>
            <a:off x="959223" y="2403655"/>
            <a:ext cx="10201835" cy="277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2</a:t>
            </a:r>
            <a:endParaRPr lang="en-US" sz="4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have created a formula in your spreadsheet using the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NOW </a:t>
            </a: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function. By default, what will the formula display in its result?</a:t>
            </a:r>
          </a:p>
          <a:p>
            <a:pPr lvl="2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date only.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time only.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date and time.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9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35D5508-731F-0A25-9403-CE9110908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81" y="1854884"/>
            <a:ext cx="10333103" cy="38671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F63FC0-8ECD-C95E-6FA4-E93DD1E0EA0D}"/>
              </a:ext>
            </a:extLst>
          </p:cNvPr>
          <p:cNvSpPr/>
          <p:nvPr/>
        </p:nvSpPr>
        <p:spPr>
          <a:xfrm>
            <a:off x="1519521" y="4168603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129863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39E6B7B-FF21-1FC6-C77A-4C00D8C76B2A}"/>
              </a:ext>
            </a:extLst>
          </p:cNvPr>
          <p:cNvSpPr txBox="1"/>
          <p:nvPr/>
        </p:nvSpPr>
        <p:spPr>
          <a:xfrm>
            <a:off x="726141" y="2126657"/>
            <a:ext cx="10165977" cy="351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3</a:t>
            </a:r>
            <a:endParaRPr lang="en-US" sz="4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are working on a spreadsheet that contains three columns called Day, Month and Year. In another column, you would like to combine these entries so that it shows a complete date. Which function should you use to achieve this?</a:t>
            </a:r>
          </a:p>
          <a:p>
            <a:pPr lvl="2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DATE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DATEDIF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CONCAT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44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D9B8D54-C76C-8520-7CD5-39824E010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75" y="1706251"/>
            <a:ext cx="10776974" cy="40252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68D773-270C-FA58-DAA6-214DB5D0C049}"/>
              </a:ext>
            </a:extLst>
          </p:cNvPr>
          <p:cNvSpPr/>
          <p:nvPr/>
        </p:nvSpPr>
        <p:spPr>
          <a:xfrm>
            <a:off x="1286436" y="4500295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51029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FE2DF15-D164-CFFF-8505-25836C6E9B4D}"/>
              </a:ext>
            </a:extLst>
          </p:cNvPr>
          <p:cNvSpPr txBox="1"/>
          <p:nvPr/>
        </p:nvSpPr>
        <p:spPr>
          <a:xfrm>
            <a:off x="645459" y="2177055"/>
            <a:ext cx="11017623" cy="334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4</a:t>
            </a:r>
            <a:endParaRPr lang="en-US" sz="4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 or False: You can use the </a:t>
            </a:r>
            <a:r>
              <a:rPr lang="en-US" sz="2400" b="1" dirty="0">
                <a:solidFill>
                  <a:srgbClr val="333333"/>
                </a:solidFill>
                <a:effectLst/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NETWORKDAYS.INTL</a:t>
            </a: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function to calculate the number of working days between two dates while excluding national holidays and weekends because it has built-in knowledge of public holidays.</a:t>
            </a:r>
          </a:p>
          <a:p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6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32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64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pic>
        <p:nvPicPr>
          <p:cNvPr id="4" name="Picture 3" descr="A white text with black text&#10;&#10;Description automatically generated">
            <a:extLst>
              <a:ext uri="{FF2B5EF4-FFF2-40B4-BE49-F238E27FC236}">
                <a16:creationId xmlns:a16="http://schemas.microsoft.com/office/drawing/2014/main" id="{514CEFB8-6F21-2C7F-D128-15900B39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60" y="1826406"/>
            <a:ext cx="10481550" cy="39899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501532-FC61-D5B6-EB7B-733E3779C9EF}"/>
              </a:ext>
            </a:extLst>
          </p:cNvPr>
          <p:cNvSpPr/>
          <p:nvPr/>
        </p:nvSpPr>
        <p:spPr>
          <a:xfrm>
            <a:off x="1519521" y="3863800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402406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CD8008-15F6-FC25-30B1-51D3193F180B}"/>
              </a:ext>
            </a:extLst>
          </p:cNvPr>
          <p:cNvSpPr txBox="1"/>
          <p:nvPr/>
        </p:nvSpPr>
        <p:spPr>
          <a:xfrm>
            <a:off x="905435" y="2281507"/>
            <a:ext cx="10551459" cy="3448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32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Question 5</a:t>
            </a:r>
            <a:endParaRPr lang="en-US" sz="40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have entered the following three dates in your spreadsheet in the month, day and year format. Which of these dates has the largest serial number?</a:t>
            </a:r>
          </a:p>
          <a:p>
            <a:pPr lvl="2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04/15/2020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09/10/2025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57300" lvl="2" indent="-342900">
              <a:buFont typeface="+mj-lt"/>
              <a:buAutoNum type="alphaUcPeriod"/>
            </a:pPr>
            <a:r>
              <a:rPr lang="en-US" sz="24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01/30/2023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5835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801800-360B-C654-EC62-80669A753C77}"/>
              </a:ext>
            </a:extLst>
          </p:cNvPr>
          <p:cNvGrpSpPr/>
          <p:nvPr/>
        </p:nvGrpSpPr>
        <p:grpSpPr>
          <a:xfrm>
            <a:off x="166540" y="193249"/>
            <a:ext cx="3318135" cy="1449371"/>
            <a:chOff x="166540" y="193249"/>
            <a:chExt cx="3318135" cy="1449371"/>
          </a:xfrm>
        </p:grpSpPr>
        <p:pic>
          <p:nvPicPr>
            <p:cNvPr id="4098" name="Picture 2" descr="Super quizzes - SuperGuide">
              <a:extLst>
                <a:ext uri="{FF2B5EF4-FFF2-40B4-BE49-F238E27FC236}">
                  <a16:creationId xmlns:a16="http://schemas.microsoft.com/office/drawing/2014/main" id="{11CE246E-4FAB-0B48-6D47-6845A6845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40" y="193249"/>
              <a:ext cx="2576660" cy="14493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31BA96-1EBF-7CFB-0658-7801FED81103}"/>
                </a:ext>
              </a:extLst>
            </p:cNvPr>
            <p:cNvSpPr/>
            <p:nvPr/>
          </p:nvSpPr>
          <p:spPr>
            <a:xfrm>
              <a:off x="2831932" y="317769"/>
              <a:ext cx="652743" cy="120032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perspectiveHeroicExtremeRightFacing"/>
                <a:lightRig rig="threePt" dir="t"/>
              </a:scene3d>
            </a:bodyPr>
            <a:lstStyle/>
            <a:p>
              <a:pPr algn="ctr"/>
              <a:r>
                <a:rPr lang="en-US" sz="7200" b="1" dirty="0">
                  <a:ln w="38100">
                    <a:solidFill>
                      <a:srgbClr val="B62E24"/>
                    </a:solidFill>
                    <a:prstDash val="solid"/>
                  </a:ln>
                  <a:solidFill>
                    <a:srgbClr val="DEDAD9"/>
                  </a:solidFill>
                  <a:effectLst>
                    <a:outerShdw dist="38100" dir="2700000" algn="tl" rotWithShape="0">
                      <a:schemeClr val="accent2"/>
                    </a:outerShdw>
                  </a:effectLst>
                </a:rPr>
                <a:t>6</a:t>
              </a:r>
            </a:p>
          </p:txBody>
        </p:sp>
      </p:grp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B09587E-6466-EB38-C769-BCDFA8777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96" y="1829392"/>
            <a:ext cx="10825990" cy="37324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CDFC4F-484C-8877-5AE1-EA4EAE30163E}"/>
              </a:ext>
            </a:extLst>
          </p:cNvPr>
          <p:cNvSpPr/>
          <p:nvPr/>
        </p:nvSpPr>
        <p:spPr>
          <a:xfrm>
            <a:off x="1241615" y="4347897"/>
            <a:ext cx="1442403" cy="400110"/>
          </a:xfrm>
          <a:prstGeom prst="rect">
            <a:avLst/>
          </a:prstGeom>
          <a:solidFill>
            <a:srgbClr val="F7FBF9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>
                  <a:solidFill>
                    <a:schemeClr val="accent6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80337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Thank You Messages for Lectures and Presentations">
            <a:extLst>
              <a:ext uri="{FF2B5EF4-FFF2-40B4-BE49-F238E27FC236}">
                <a16:creationId xmlns:a16="http://schemas.microsoft.com/office/drawing/2014/main" id="{ACBEEE0B-4048-7162-914E-9F50594F4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6E25A-C259-B9EC-9F47-8A013988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96" y="409153"/>
            <a:ext cx="524900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1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492</Words>
  <Application>Microsoft Office PowerPoint</Application>
  <PresentationFormat>Widescreen</PresentationFormat>
  <Paragraphs>113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</vt:lpstr>
      <vt:lpstr>Arial Black</vt:lpstr>
      <vt:lpstr>Arial Nova</vt:lpstr>
      <vt:lpstr>Calibri</vt:lpstr>
      <vt:lpstr>Calibri Light</vt:lpstr>
      <vt:lpstr>Courier</vt:lpstr>
      <vt:lpstr>MV Boli</vt:lpstr>
      <vt:lpstr>Open Sans</vt:lpstr>
      <vt:lpstr>Times New Roman</vt:lpstr>
      <vt:lpstr>unset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6:  Calculating the  number of working days remaining in the year.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74</cp:revision>
  <dcterms:created xsi:type="dcterms:W3CDTF">2023-05-21T05:44:35Z</dcterms:created>
  <dcterms:modified xsi:type="dcterms:W3CDTF">2023-11-02T09:03:33Z</dcterms:modified>
</cp:coreProperties>
</file>